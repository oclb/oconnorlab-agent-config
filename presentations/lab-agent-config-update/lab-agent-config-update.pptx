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31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</p:sldIdLst>
  <p:sldSz cx="12191999" cy="6858000" type="wide"/>
  <p:notesSz cx="6858000" cy="9144000"/>
  <p:defaultTextStyle>
    <a:defPPr>
      <a:defRPr lang="en-US"/>
    </a:defPPr>
  </p:defaultTextStyle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Master" Target="slideMasters/slideMaster1.xml"/><Relationship Id="rId32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Shape 4"/>
          <p:cNvSpPr/>
          <p:nvPr/>
        </p:nvSpPr>
        <p:spPr>
          <a:xfrm>
            <a:off x="0" y="0"/>
            <a:ext cx="475488" cy="6858000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hape 5"/>
          <p:cNvSpPr/>
          <p:nvPr/>
        </p:nvSpPr>
        <p:spPr>
          <a:xfrm>
            <a:off x="713232" y="713232"/>
            <a:ext cx="1920240" cy="128016"/>
          </a:xfrm>
          <a:prstGeom prst="rect">
            <a:avLst/>
          </a:prstGeom>
          <a:solidFill>
            <a:srgbClr val="D85A4A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Text 6"/>
          <p:cNvSpPr txBox="1"/>
          <p:nvPr/>
        </p:nvSpPr>
        <p:spPr>
          <a:xfrm>
            <a:off x="640080" y="1097280"/>
            <a:ext cx="9966960" cy="10058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4400" lang="en-US" b="1">
                <a:solidFill>
                  <a:srgbClr val="22252A"/>
                </a:solidFill>
                <a:latin typeface="Arial"/>
              </a:rPr>
              <a:t>lab agent config update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85800" y="2176272"/>
            <a:ext cx="7955279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2000" lang="en-US">
                <a:solidFill>
                  <a:srgbClr val="5D646B"/>
                </a:solidFill>
                <a:latin typeface="Arial"/>
              </a:rPr>
              <a:t>AI-assisted research workflows, now organized for both Claude Code and Codex.</a:t>
            </a:r>
          </a:p>
        </p:txBody>
      </p:sp>
      <p:sp>
        <p:nvSpPr>
          <p:cNvPr id="8" name="Shape 8"/>
          <p:cNvSpPr/>
          <p:nvPr/>
        </p:nvSpPr>
        <p:spPr>
          <a:xfrm>
            <a:off x="713232" y="4096512"/>
            <a:ext cx="30632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9" name="Shape 9"/>
          <p:cNvSpPr/>
          <p:nvPr/>
        </p:nvSpPr>
        <p:spPr>
          <a:xfrm>
            <a:off x="713232" y="4096512"/>
            <a:ext cx="109728" cy="1234440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ext 10"/>
          <p:cNvSpPr txBox="1"/>
          <p:nvPr/>
        </p:nvSpPr>
        <p:spPr>
          <a:xfrm>
            <a:off x="941832" y="4261104"/>
            <a:ext cx="265176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Principles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941832" y="4791456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Try things. Systematize. Understand.</a:t>
            </a:r>
          </a:p>
        </p:txBody>
      </p:sp>
      <p:sp>
        <p:nvSpPr>
          <p:cNvPr id="12" name="Shape 12"/>
          <p:cNvSpPr/>
          <p:nvPr/>
        </p:nvSpPr>
        <p:spPr>
          <a:xfrm>
            <a:off x="4005072" y="4096512"/>
            <a:ext cx="30632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13" name="Shape 13"/>
          <p:cNvSpPr/>
          <p:nvPr/>
        </p:nvSpPr>
        <p:spPr>
          <a:xfrm>
            <a:off x="4005072" y="4096512"/>
            <a:ext cx="109728" cy="1234440"/>
          </a:xfrm>
          <a:prstGeom prst="rect">
            <a:avLst/>
          </a:prstGeom>
          <a:solidFill>
            <a:srgbClr val="506B8B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Text 14"/>
          <p:cNvSpPr txBox="1"/>
          <p:nvPr/>
        </p:nvSpPr>
        <p:spPr>
          <a:xfrm>
            <a:off x="4233672" y="4261104"/>
            <a:ext cx="265176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Config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4233672" y="4791456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Shared lab infrastructure.</a:t>
            </a:r>
          </a:p>
        </p:txBody>
      </p:sp>
      <p:sp>
        <p:nvSpPr>
          <p:cNvPr id="16" name="Shape 16"/>
          <p:cNvSpPr/>
          <p:nvPr/>
        </p:nvSpPr>
        <p:spPr>
          <a:xfrm>
            <a:off x="7296912" y="4096512"/>
            <a:ext cx="30632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7296912" y="4096512"/>
            <a:ext cx="109728" cy="1234440"/>
          </a:xfrm>
          <a:prstGeom prst="rect">
            <a:avLst/>
          </a:prstGeom>
          <a:solidFill>
            <a:srgbClr val="C69214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Text 18"/>
          <p:cNvSpPr txBox="1"/>
          <p:nvPr/>
        </p:nvSpPr>
        <p:spPr>
          <a:xfrm>
            <a:off x="7525512" y="4261104"/>
            <a:ext cx="265176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Skills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7525512" y="4791456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Reusable workflows.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731520" y="6263640"/>
            <a:ext cx="420624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>
                <a:solidFill>
                  <a:srgbClr val="5D646B"/>
                </a:solidFill>
                <a:latin typeface="Arial"/>
              </a:rPr>
              <a:t>Group meeting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11292840" y="310896"/>
            <a:ext cx="201168" cy="201168"/>
          </a:xfrm>
          <a:prstGeom prst="roundRect">
            <a:avLst/>
          </a:prstGeom>
          <a:solidFill>
            <a:srgbClr val="135C5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530352" y="310896"/>
            <a:ext cx="8778240" cy="5623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2600" lang="en-US" b="1">
                <a:solidFill>
                  <a:srgbClr val="22252A"/>
                </a:solidFill>
                <a:latin typeface="Arial"/>
              </a:rPr>
              <a:t>Quick Poll: Using / Liking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566928" y="969264"/>
            <a:ext cx="10908792" cy="0"/>
          </a:xfrm>
          <a:prstGeom prst="line">
            <a:avLst/>
          </a:prstGeom>
          <a:ln w="12700">
            <a:solidFill>
              <a:srgbClr val="D6D0C4"/>
            </a:solidFill>
          </a:ln>
        </p:spPr>
      </p:cxnSp>
      <p:sp>
        <p:nvSpPr>
          <p:cNvPr id="7" name="Text 7"/>
          <p:cNvSpPr txBox="1"/>
          <p:nvPr/>
        </p:nvSpPr>
        <p:spPr>
          <a:xfrm>
            <a:off x="804672" y="1170432"/>
            <a:ext cx="7498079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>
                <a:solidFill>
                  <a:srgbClr val="5D646B"/>
                </a:solidFill>
                <a:latin typeface="Arial"/>
              </a:rPr>
              <a:t>n = 4; counted as people reporting they used or liked each workflow.</a:t>
            </a:r>
          </a:p>
        </p:txBody>
      </p:sp>
      <p:sp>
        <p:nvSpPr>
          <p:cNvPr id="8" name="Shape 8"/>
          <p:cNvSpPr/>
          <p:nvPr/>
        </p:nvSpPr>
        <p:spPr>
          <a:xfrm>
            <a:off x="822960" y="1828800"/>
            <a:ext cx="10149840" cy="566928"/>
          </a:xfrm>
          <a:prstGeom prst="rect">
            <a:avLst/>
          </a:prstGeom>
          <a:solidFill>
            <a:srgbClr val="135C5B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987552" y="1965960"/>
            <a:ext cx="3246120" cy="28803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800" lang="en-US" b="1">
                <a:solidFill>
                  <a:srgbClr val="FFFFFF"/>
                </a:solidFill>
                <a:latin typeface="Arial"/>
              </a:rPr>
              <a:t>Workflow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4434840" y="1965960"/>
            <a:ext cx="1188720" cy="28803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c"/>
            <a:r>
              <a:rPr sz="1800" lang="en-US" b="1">
                <a:solidFill>
                  <a:srgbClr val="FFFFFF"/>
                </a:solidFill>
                <a:latin typeface="Arial"/>
              </a:rPr>
              <a:t>Count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5897880" y="1965960"/>
            <a:ext cx="4983480" cy="28803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800" lang="en-US" b="1">
                <a:solidFill>
                  <a:srgbClr val="FFFFFF"/>
                </a:solidFill>
                <a:latin typeface="Arial"/>
              </a:rPr>
              <a:t>Share</a:t>
            </a:r>
          </a:p>
        </p:txBody>
      </p:sp>
      <p:sp>
        <p:nvSpPr>
          <p:cNvPr id="12" name="Shape 12"/>
          <p:cNvSpPr/>
          <p:nvPr/>
        </p:nvSpPr>
        <p:spPr>
          <a:xfrm>
            <a:off x="822960" y="2395728"/>
            <a:ext cx="10149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987552" y="2578608"/>
            <a:ext cx="3218687" cy="28803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Notebook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4434840" y="2578608"/>
            <a:ext cx="1188720" cy="28803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c"/>
            <a:r>
              <a:rPr sz="1800" lang="en-US" b="1">
                <a:solidFill>
                  <a:srgbClr val="22252A"/>
                </a:solidFill>
                <a:latin typeface="Arial"/>
              </a:rPr>
              <a:t>3/4</a:t>
            </a:r>
          </a:p>
        </p:txBody>
      </p:sp>
      <p:sp>
        <p:nvSpPr>
          <p:cNvPr id="15" name="Shape 15"/>
          <p:cNvSpPr/>
          <p:nvPr/>
        </p:nvSpPr>
        <p:spPr>
          <a:xfrm>
            <a:off x="6035040" y="2642616"/>
            <a:ext cx="4023360" cy="219456"/>
          </a:xfrm>
          <a:prstGeom prst="roundRect">
            <a:avLst/>
          </a:prstGeom>
          <a:solidFill>
            <a:srgbClr val="D6D0C4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6035040" y="2642616"/>
            <a:ext cx="3017520" cy="219456"/>
          </a:xfrm>
          <a:prstGeom prst="round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10222992" y="2578608"/>
            <a:ext cx="685800" cy="28803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r"/>
            <a:r>
              <a:rPr sz="1800" lang="en-US" b="1">
                <a:solidFill>
                  <a:srgbClr val="22252A"/>
                </a:solidFill>
                <a:latin typeface="Arial"/>
              </a:rPr>
              <a:t>75%</a:t>
            </a:r>
          </a:p>
        </p:txBody>
      </p:sp>
      <p:sp>
        <p:nvSpPr>
          <p:cNvPr id="18" name="Shape 18"/>
          <p:cNvSpPr/>
          <p:nvPr/>
        </p:nvSpPr>
        <p:spPr>
          <a:xfrm>
            <a:off x="822960" y="3182112"/>
            <a:ext cx="10149840" cy="786384"/>
          </a:xfrm>
          <a:prstGeom prst="rect">
            <a:avLst/>
          </a:prstGeom>
          <a:solidFill>
            <a:srgbClr val="E8EFEA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19" name="Text 19"/>
          <p:cNvSpPr txBox="1"/>
          <p:nvPr/>
        </p:nvSpPr>
        <p:spPr>
          <a:xfrm>
            <a:off x="987552" y="3364992"/>
            <a:ext cx="3218687" cy="28803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O2 bridge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4434840" y="3364992"/>
            <a:ext cx="1188720" cy="28803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c"/>
            <a:r>
              <a:rPr sz="1800" lang="en-US" b="1">
                <a:solidFill>
                  <a:srgbClr val="22252A"/>
                </a:solidFill>
                <a:latin typeface="Arial"/>
              </a:rPr>
              <a:t>2/4</a:t>
            </a:r>
          </a:p>
        </p:txBody>
      </p:sp>
      <p:sp>
        <p:nvSpPr>
          <p:cNvPr id="21" name="Shape 21"/>
          <p:cNvSpPr/>
          <p:nvPr/>
        </p:nvSpPr>
        <p:spPr>
          <a:xfrm>
            <a:off x="6035040" y="3429000"/>
            <a:ext cx="4023360" cy="219456"/>
          </a:xfrm>
          <a:prstGeom prst="roundRect">
            <a:avLst/>
          </a:prstGeom>
          <a:solidFill>
            <a:srgbClr val="D6D0C4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Shape 22"/>
          <p:cNvSpPr/>
          <p:nvPr/>
        </p:nvSpPr>
        <p:spPr>
          <a:xfrm>
            <a:off x="6035040" y="3429000"/>
            <a:ext cx="2011680" cy="219456"/>
          </a:xfrm>
          <a:prstGeom prst="roundRect">
            <a:avLst/>
          </a:prstGeom>
          <a:solidFill>
            <a:srgbClr val="506B8B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ext 23"/>
          <p:cNvSpPr txBox="1"/>
          <p:nvPr/>
        </p:nvSpPr>
        <p:spPr>
          <a:xfrm>
            <a:off x="10222992" y="3364992"/>
            <a:ext cx="685800" cy="28803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r"/>
            <a:r>
              <a:rPr sz="1800" lang="en-US" b="1">
                <a:solidFill>
                  <a:srgbClr val="22252A"/>
                </a:solidFill>
                <a:latin typeface="Arial"/>
              </a:rPr>
              <a:t>50%</a:t>
            </a:r>
          </a:p>
        </p:txBody>
      </p:sp>
      <p:sp>
        <p:nvSpPr>
          <p:cNvPr id="24" name="Shape 24"/>
          <p:cNvSpPr/>
          <p:nvPr/>
        </p:nvSpPr>
        <p:spPr>
          <a:xfrm>
            <a:off x="822960" y="3968496"/>
            <a:ext cx="10149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25" name="Text 25"/>
          <p:cNvSpPr txBox="1"/>
          <p:nvPr/>
        </p:nvSpPr>
        <p:spPr>
          <a:xfrm>
            <a:off x="987552" y="4151376"/>
            <a:ext cx="3218687" cy="28803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Repo-specific skills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4434840" y="4151376"/>
            <a:ext cx="1188720" cy="28803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c"/>
            <a:r>
              <a:rPr sz="1800" lang="en-US" b="1">
                <a:solidFill>
                  <a:srgbClr val="22252A"/>
                </a:solidFill>
                <a:latin typeface="Arial"/>
              </a:rPr>
              <a:t>1/4</a:t>
            </a:r>
          </a:p>
        </p:txBody>
      </p:sp>
      <p:sp>
        <p:nvSpPr>
          <p:cNvPr id="27" name="Shape 27"/>
          <p:cNvSpPr/>
          <p:nvPr/>
        </p:nvSpPr>
        <p:spPr>
          <a:xfrm>
            <a:off x="6035040" y="4215383"/>
            <a:ext cx="4023360" cy="219456"/>
          </a:xfrm>
          <a:prstGeom prst="roundRect">
            <a:avLst/>
          </a:prstGeom>
          <a:solidFill>
            <a:srgbClr val="D6D0C4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Shape 28"/>
          <p:cNvSpPr/>
          <p:nvPr/>
        </p:nvSpPr>
        <p:spPr>
          <a:xfrm>
            <a:off x="6035040" y="4215383"/>
            <a:ext cx="1005840" cy="219456"/>
          </a:xfrm>
          <a:prstGeom prst="roundRect">
            <a:avLst/>
          </a:prstGeom>
          <a:solidFill>
            <a:srgbClr val="C69214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Text 29"/>
          <p:cNvSpPr txBox="1"/>
          <p:nvPr/>
        </p:nvSpPr>
        <p:spPr>
          <a:xfrm>
            <a:off x="10222992" y="4151376"/>
            <a:ext cx="685800" cy="28803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r"/>
            <a:r>
              <a:rPr sz="1800" lang="en-US" b="1">
                <a:solidFill>
                  <a:srgbClr val="22252A"/>
                </a:solidFill>
                <a:latin typeface="Arial"/>
              </a:rPr>
              <a:t>25%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987552" y="4443983"/>
            <a:ext cx="9784080" cy="28803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800" lang="en-US" i="1">
                <a:solidFill>
                  <a:srgbClr val="5D646B"/>
                </a:solidFill>
                <a:latin typeface="Arial"/>
              </a:rPr>
              <a:t>Kangcheng: finalize-manuscript</a:t>
            </a:r>
          </a:p>
        </p:txBody>
      </p:sp>
      <p:sp>
        <p:nvSpPr>
          <p:cNvPr id="31" name="Shape 31"/>
          <p:cNvSpPr/>
          <p:nvPr/>
        </p:nvSpPr>
        <p:spPr>
          <a:xfrm>
            <a:off x="868680" y="4892040"/>
            <a:ext cx="47548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32" name="Shape 32"/>
          <p:cNvSpPr/>
          <p:nvPr/>
        </p:nvSpPr>
        <p:spPr>
          <a:xfrm>
            <a:off x="868680" y="4892040"/>
            <a:ext cx="109728" cy="1234440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Text 33"/>
          <p:cNvSpPr txBox="1"/>
          <p:nvPr/>
        </p:nvSpPr>
        <p:spPr>
          <a:xfrm>
            <a:off x="1097280" y="5056631"/>
            <a:ext cx="434340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Interpretation</a:t>
            </a:r>
          </a:p>
        </p:txBody>
      </p:sp>
      <p:sp>
        <p:nvSpPr>
          <p:cNvPr id="34" name="Text 34"/>
          <p:cNvSpPr txBox="1"/>
          <p:nvPr/>
        </p:nvSpPr>
        <p:spPr>
          <a:xfrm>
            <a:off x="1097280" y="5586983"/>
            <a:ext cx="43434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Notebook is the clearest early hit.</a:t>
            </a:r>
          </a:p>
        </p:txBody>
      </p:sp>
      <p:sp>
        <p:nvSpPr>
          <p:cNvPr id="35" name="Shape 35"/>
          <p:cNvSpPr/>
          <p:nvPr/>
        </p:nvSpPr>
        <p:spPr>
          <a:xfrm>
            <a:off x="6263640" y="4892040"/>
            <a:ext cx="47548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36" name="Shape 36"/>
          <p:cNvSpPr/>
          <p:nvPr/>
        </p:nvSpPr>
        <p:spPr>
          <a:xfrm>
            <a:off x="6263640" y="4892040"/>
            <a:ext cx="109728" cy="1234440"/>
          </a:xfrm>
          <a:prstGeom prst="rect">
            <a:avLst/>
          </a:prstGeom>
          <a:solidFill>
            <a:srgbClr val="C69214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Text 37"/>
          <p:cNvSpPr txBox="1"/>
          <p:nvPr/>
        </p:nvSpPr>
        <p:spPr>
          <a:xfrm>
            <a:off x="6492240" y="5056631"/>
            <a:ext cx="434340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Next question</a:t>
            </a:r>
          </a:p>
        </p:txBody>
      </p:sp>
      <p:sp>
        <p:nvSpPr>
          <p:cNvPr id="38" name="Text 38"/>
          <p:cNvSpPr txBox="1"/>
          <p:nvPr/>
        </p:nvSpPr>
        <p:spPr>
          <a:xfrm>
            <a:off x="6492240" y="5586983"/>
            <a:ext cx="43434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Which repo-specific skills should be easier to discover?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11292840" y="310896"/>
            <a:ext cx="201168" cy="201168"/>
          </a:xfrm>
          <a:prstGeom prst="roundRect">
            <a:avLst/>
          </a:prstGeom>
          <a:solidFill>
            <a:srgbClr val="135C5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530352" y="310896"/>
            <a:ext cx="8778240" cy="5623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2600" lang="en-US" b="1">
                <a:solidFill>
                  <a:srgbClr val="22252A"/>
                </a:solidFill>
                <a:latin typeface="Arial"/>
              </a:rPr>
              <a:t>Start With Advice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566928" y="969264"/>
            <a:ext cx="10908792" cy="0"/>
          </a:xfrm>
          <a:prstGeom prst="line">
            <a:avLst/>
          </a:prstGeom>
          <a:ln w="12700">
            <a:solidFill>
              <a:srgbClr val="D6D0C4"/>
            </a:solidFill>
          </a:ln>
        </p:spPr>
      </p:cxnSp>
      <p:sp>
        <p:nvSpPr>
          <p:cNvPr id="7" name="Text 7"/>
          <p:cNvSpPr txBox="1"/>
          <p:nvPr/>
        </p:nvSpPr>
        <p:spPr>
          <a:xfrm>
            <a:off x="713232" y="1335024"/>
            <a:ext cx="9692640" cy="6858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2700" lang="en-US" b="1">
                <a:solidFill>
                  <a:srgbClr val="22252A"/>
                </a:solidFill>
                <a:latin typeface="Arial"/>
              </a:rPr>
              <a:t>The most important content is not the tool list. It is the habit loop.</a:t>
            </a:r>
          </a:p>
        </p:txBody>
      </p:sp>
      <p:sp>
        <p:nvSpPr>
          <p:cNvPr id="8" name="Shape 8"/>
          <p:cNvSpPr/>
          <p:nvPr/>
        </p:nvSpPr>
        <p:spPr>
          <a:xfrm>
            <a:off x="914400" y="2743200"/>
            <a:ext cx="1920240" cy="841248"/>
          </a:xfrm>
          <a:prstGeom prst="round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987552" y="2990088"/>
            <a:ext cx="1773936" cy="28803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c"/>
            <a:r>
              <a:rPr sz="1800" lang="en-US" b="1">
                <a:solidFill>
                  <a:srgbClr val="FFFFFF"/>
                </a:solidFill>
                <a:latin typeface="Arial"/>
              </a:rPr>
              <a:t>try things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2907792" y="3090672"/>
            <a:ext cx="932688" cy="0"/>
          </a:xfrm>
          <a:prstGeom prst="line">
            <a:avLst/>
          </a:prstGeom>
          <a:ln w="38100">
            <a:solidFill>
              <a:srgbClr val="D6D0C4"/>
            </a:solidFill>
          </a:ln>
        </p:spPr>
      </p:cxnSp>
      <p:sp>
        <p:nvSpPr>
          <p:cNvPr id="11" name="Shape 11"/>
          <p:cNvSpPr/>
          <p:nvPr/>
        </p:nvSpPr>
        <p:spPr>
          <a:xfrm>
            <a:off x="3977639" y="2743200"/>
            <a:ext cx="2103120" cy="841248"/>
          </a:xfrm>
          <a:prstGeom prst="roundRect">
            <a:avLst/>
          </a:prstGeom>
          <a:solidFill>
            <a:srgbClr val="506B8B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ext 12"/>
          <p:cNvSpPr txBox="1"/>
          <p:nvPr/>
        </p:nvSpPr>
        <p:spPr>
          <a:xfrm>
            <a:off x="4050791" y="2990088"/>
            <a:ext cx="1956815" cy="28803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c"/>
            <a:r>
              <a:rPr sz="1800" lang="en-US" b="1">
                <a:solidFill>
                  <a:srgbClr val="FFFFFF"/>
                </a:solidFill>
                <a:latin typeface="Arial"/>
              </a:rPr>
              <a:t>notice what works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6144768" y="3090672"/>
            <a:ext cx="896112" cy="0"/>
          </a:xfrm>
          <a:prstGeom prst="line">
            <a:avLst/>
          </a:prstGeom>
          <a:ln w="38100">
            <a:solidFill>
              <a:srgbClr val="D6D0C4"/>
            </a:solidFill>
          </a:ln>
        </p:spPr>
      </p:cxnSp>
      <p:sp>
        <p:nvSpPr>
          <p:cNvPr id="14" name="Shape 14"/>
          <p:cNvSpPr/>
          <p:nvPr/>
        </p:nvSpPr>
        <p:spPr>
          <a:xfrm>
            <a:off x="7178040" y="2743200"/>
            <a:ext cx="2011680" cy="841248"/>
          </a:xfrm>
          <a:prstGeom prst="roundRect">
            <a:avLst/>
          </a:prstGeom>
          <a:solidFill>
            <a:srgbClr val="C69214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Text 15"/>
          <p:cNvSpPr txBox="1"/>
          <p:nvPr/>
        </p:nvSpPr>
        <p:spPr>
          <a:xfrm>
            <a:off x="7251192" y="2990088"/>
            <a:ext cx="1865376" cy="28803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c"/>
            <a:r>
              <a:rPr sz="1800" lang="en-US" b="1">
                <a:solidFill>
                  <a:srgbClr val="FFFFFF"/>
                </a:solidFill>
                <a:latin typeface="Arial"/>
              </a:rPr>
              <a:t>systematize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914400" y="3977639"/>
            <a:ext cx="8869680" cy="6858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900" lang="en-US">
                <a:solidFill>
                  <a:srgbClr val="5D646B"/>
                </a:solidFill>
                <a:latin typeface="Arial"/>
              </a:rPr>
              <a:t>The repo is where useful habits become reusable agent behavior.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11292840" y="310896"/>
            <a:ext cx="201168" cy="201168"/>
          </a:xfrm>
          <a:prstGeom prst="roundRect">
            <a:avLst/>
          </a:prstGeom>
          <a:solidFill>
            <a:srgbClr val="135C5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530352" y="310896"/>
            <a:ext cx="8778240" cy="5623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2600" lang="en-US" b="1">
                <a:solidFill>
                  <a:srgbClr val="22252A"/>
                </a:solidFill>
                <a:latin typeface="Arial"/>
              </a:rPr>
              <a:t>Advice: Figure Out What Works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566928" y="969264"/>
            <a:ext cx="10908792" cy="0"/>
          </a:xfrm>
          <a:prstGeom prst="line">
            <a:avLst/>
          </a:prstGeom>
          <a:ln w="12700">
            <a:solidFill>
              <a:srgbClr val="D6D0C4"/>
            </a:solidFill>
          </a:ln>
        </p:spPr>
      </p:cxnSp>
      <p:sp>
        <p:nvSpPr>
          <p:cNvPr id="7" name="Shape 7"/>
          <p:cNvSpPr/>
          <p:nvPr/>
        </p:nvSpPr>
        <p:spPr>
          <a:xfrm>
            <a:off x="713232" y="1325880"/>
            <a:ext cx="333756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8" name="Shape 8"/>
          <p:cNvSpPr/>
          <p:nvPr/>
        </p:nvSpPr>
        <p:spPr>
          <a:xfrm>
            <a:off x="713232" y="1325880"/>
            <a:ext cx="109728" cy="3383280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941832" y="1490472"/>
            <a:ext cx="2926079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Experiment deliberately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941832" y="2020824"/>
            <a:ext cx="2926079" cy="257860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Try different tasks, prompts, apps, and interfaces.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Treat this as active learning, not tool adoption.</a:t>
            </a:r>
          </a:p>
        </p:txBody>
      </p:sp>
      <p:sp>
        <p:nvSpPr>
          <p:cNvPr id="11" name="Shape 11"/>
          <p:cNvSpPr/>
          <p:nvPr/>
        </p:nvSpPr>
        <p:spPr>
          <a:xfrm>
            <a:off x="4407408" y="1325880"/>
            <a:ext cx="333756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4407408" y="1325880"/>
            <a:ext cx="109728" cy="3383280"/>
          </a:xfrm>
          <a:prstGeom prst="rect">
            <a:avLst/>
          </a:prstGeom>
          <a:solidFill>
            <a:srgbClr val="506B8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4636008" y="1490472"/>
            <a:ext cx="2926079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Keep what helps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4636008" y="2020824"/>
            <a:ext cx="2926079" cy="257860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Ask for questions before planning.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Use long rough prompts.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Create project-specific workflows.</a:t>
            </a:r>
          </a:p>
        </p:txBody>
      </p:sp>
      <p:sp>
        <p:nvSpPr>
          <p:cNvPr id="15" name="Shape 15"/>
          <p:cNvSpPr/>
          <p:nvPr/>
        </p:nvSpPr>
        <p:spPr>
          <a:xfrm>
            <a:off x="8101583" y="1325880"/>
            <a:ext cx="333756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8101583" y="1325880"/>
            <a:ext cx="109728" cy="3383280"/>
          </a:xfrm>
          <a:prstGeom prst="rect">
            <a:avLst/>
          </a:prstGeom>
          <a:solidFill>
            <a:srgbClr val="C69214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8330183" y="1490472"/>
            <a:ext cx="2926079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Do not overgeneralize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330183" y="2020824"/>
            <a:ext cx="2926079" cy="257860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Our work is not cookie-cutter.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Models and interfaces keep changing.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11292840" y="310896"/>
            <a:ext cx="201168" cy="201168"/>
          </a:xfrm>
          <a:prstGeom prst="roundRect">
            <a:avLst/>
          </a:prstGeom>
          <a:solidFill>
            <a:srgbClr val="135C5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530352" y="310896"/>
            <a:ext cx="8778240" cy="5623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2600" lang="en-US" b="1">
                <a:solidFill>
                  <a:srgbClr val="22252A"/>
                </a:solidFill>
                <a:latin typeface="Arial"/>
              </a:rPr>
              <a:t>Advice: Then Systematize It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566928" y="969264"/>
            <a:ext cx="10908792" cy="0"/>
          </a:xfrm>
          <a:prstGeom prst="line">
            <a:avLst/>
          </a:prstGeom>
          <a:ln w="12700">
            <a:solidFill>
              <a:srgbClr val="D6D0C4"/>
            </a:solidFill>
          </a:ln>
        </p:spPr>
      </p:cxnSp>
      <p:sp>
        <p:nvSpPr>
          <p:cNvPr id="7" name="Text 7"/>
          <p:cNvSpPr txBox="1"/>
          <p:nvPr/>
        </p:nvSpPr>
        <p:spPr>
          <a:xfrm>
            <a:off x="777240" y="1325880"/>
            <a:ext cx="4754880" cy="5943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2800" lang="en-US" b="1">
                <a:solidFill>
                  <a:srgbClr val="22252A"/>
                </a:solidFill>
                <a:latin typeface="Arial"/>
              </a:rPr>
              <a:t>A system can be tiny.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868680" y="2057400"/>
            <a:ext cx="4572000" cy="24688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900" lang="en-US">
                <a:solidFill>
                  <a:srgbClr val="5D646B"/>
                </a:solidFill>
                <a:latin typeface="Arial"/>
              </a:rPr>
              <a:t>A habit</a:t>
            </a:r>
          </a:p>
          <a:p>
            <a:pPr algn="l">
              <a:lnSpc>
                <a:spcPct val="105000"/>
              </a:lnSpc>
            </a:pPr>
            <a:r>
              <a:rPr sz="1900" lang="en-US">
                <a:solidFill>
                  <a:srgbClr val="5D646B"/>
                </a:solidFill>
                <a:latin typeface="Arial"/>
              </a:rPr>
              <a:t>A project instruction</a:t>
            </a:r>
          </a:p>
          <a:p>
            <a:pPr algn="l">
              <a:lnSpc>
                <a:spcPct val="105000"/>
              </a:lnSpc>
            </a:pPr>
            <a:r>
              <a:rPr sz="1900" lang="en-US">
                <a:solidFill>
                  <a:srgbClr val="5D646B"/>
                </a:solidFill>
                <a:latin typeface="Arial"/>
              </a:rPr>
              <a:t>A skill</a:t>
            </a:r>
          </a:p>
          <a:p>
            <a:pPr algn="l">
              <a:lnSpc>
                <a:spcPct val="105000"/>
              </a:lnSpc>
            </a:pPr>
            <a:r>
              <a:rPr sz="1900" lang="en-US">
                <a:solidFill>
                  <a:srgbClr val="5D646B"/>
                </a:solidFill>
                <a:latin typeface="Arial"/>
              </a:rPr>
              <a:t>A postmortem change</a:t>
            </a:r>
          </a:p>
          <a:p>
            <a:pPr algn="l">
              <a:lnSpc>
                <a:spcPct val="105000"/>
              </a:lnSpc>
            </a:pPr>
            <a:r>
              <a:rPr sz="1900" lang="en-US">
                <a:solidFill>
                  <a:srgbClr val="5D646B"/>
                </a:solidFill>
                <a:latin typeface="Arial"/>
              </a:rPr>
              <a:t>A checklist the agent follows</a:t>
            </a:r>
          </a:p>
        </p:txBody>
      </p:sp>
      <p:sp>
        <p:nvSpPr>
          <p:cNvPr id="9" name="Shape 9"/>
          <p:cNvSpPr/>
          <p:nvPr/>
        </p:nvSpPr>
        <p:spPr>
          <a:xfrm>
            <a:off x="5806440" y="1417320"/>
            <a:ext cx="507492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10" name="Text 10"/>
          <p:cNvSpPr txBox="1"/>
          <p:nvPr/>
        </p:nvSpPr>
        <p:spPr>
          <a:xfrm>
            <a:off x="6144768" y="1783080"/>
            <a:ext cx="420624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Encoded examples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144768" y="2331720"/>
            <a:ext cx="4389120" cy="21031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Make a record of substantive work.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Ask questions in Plan Mode.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Review substantial software changes.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Number lists so humans can reply cleanly.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11292840" y="310896"/>
            <a:ext cx="201168" cy="201168"/>
          </a:xfrm>
          <a:prstGeom prst="roundRect">
            <a:avLst/>
          </a:prstGeom>
          <a:solidFill>
            <a:srgbClr val="135C5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530352" y="310896"/>
            <a:ext cx="8778240" cy="5623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2600" lang="en-US" b="1">
                <a:solidFill>
                  <a:srgbClr val="22252A"/>
                </a:solidFill>
                <a:latin typeface="Arial"/>
              </a:rPr>
              <a:t>Advice: Question Your Code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566928" y="969264"/>
            <a:ext cx="10908792" cy="0"/>
          </a:xfrm>
          <a:prstGeom prst="line">
            <a:avLst/>
          </a:prstGeom>
          <a:ln w="12700">
            <a:solidFill>
              <a:srgbClr val="D6D0C4"/>
            </a:solidFill>
          </a:ln>
        </p:spPr>
      </p:cxnSp>
      <p:sp>
        <p:nvSpPr>
          <p:cNvPr id="7" name="Shape 7"/>
          <p:cNvSpPr/>
          <p:nvPr/>
        </p:nvSpPr>
        <p:spPr>
          <a:xfrm>
            <a:off x="841248" y="1298448"/>
            <a:ext cx="10378440" cy="1143000"/>
          </a:xfrm>
          <a:prstGeom prst="roundRect">
            <a:avLst/>
          </a:prstGeom>
          <a:solidFill>
            <a:srgbClr val="22252A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Text 8"/>
          <p:cNvSpPr txBox="1"/>
          <p:nvPr/>
        </p:nvSpPr>
        <p:spPr>
          <a:xfrm>
            <a:off x="1143000" y="1673352"/>
            <a:ext cx="9784080" cy="51435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c"/>
            <a:r>
              <a:rPr sz="2300" lang="en-US" b="1" i="1">
                <a:solidFill>
                  <a:srgbClr val="FFFFFF"/>
                </a:solidFill>
                <a:latin typeface="Arial"/>
              </a:rPr>
              <a:t>"You can outsource thinking, but not understanding."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68680" y="2999232"/>
            <a:ext cx="4754880" cy="46634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2000" lang="en-US" b="1">
                <a:solidFill>
                  <a:srgbClr val="22252A"/>
                </a:solidFill>
                <a:latin typeface="Arial"/>
              </a:rPr>
              <a:t>Ask the agent, or ask yourself: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960120" y="3611880"/>
            <a:ext cx="4754880" cy="1554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What changed, and why?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What hidden choices were made?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What could go wrong?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What test would reassure us?</a:t>
            </a:r>
          </a:p>
        </p:txBody>
      </p:sp>
      <p:sp>
        <p:nvSpPr>
          <p:cNvPr id="11" name="Shape 11"/>
          <p:cNvSpPr/>
          <p:nvPr/>
        </p:nvSpPr>
        <p:spPr>
          <a:xfrm>
            <a:off x="6400800" y="2971800"/>
            <a:ext cx="41605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6400800" y="2971800"/>
            <a:ext cx="109728" cy="1920240"/>
          </a:xfrm>
          <a:prstGeom prst="rect">
            <a:avLst/>
          </a:prstGeom>
          <a:solidFill>
            <a:srgbClr val="D85A4A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6629400" y="3136392"/>
            <a:ext cx="3749039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Scientific caution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629400" y="3666744"/>
            <a:ext cx="3749039" cy="11155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AI is useful for analyses, but it lacks scientific judgement and integrity.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You still need to understand every scientifically relevant detail.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11292840" y="310896"/>
            <a:ext cx="201168" cy="201168"/>
          </a:xfrm>
          <a:prstGeom prst="roundRect">
            <a:avLst/>
          </a:prstGeom>
          <a:solidFill>
            <a:srgbClr val="135C5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530352" y="310896"/>
            <a:ext cx="8778240" cy="5623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2600" lang="en-US" b="1">
                <a:solidFill>
                  <a:srgbClr val="22252A"/>
                </a:solidFill>
                <a:latin typeface="Arial"/>
              </a:rPr>
              <a:t>Advice: Align Three Things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566928" y="969264"/>
            <a:ext cx="10908792" cy="0"/>
          </a:xfrm>
          <a:prstGeom prst="line">
            <a:avLst/>
          </a:prstGeom>
          <a:ln w="12700">
            <a:solidFill>
              <a:srgbClr val="D6D0C4"/>
            </a:solidFill>
          </a:ln>
        </p:spPr>
      </p:cxnSp>
      <p:cxnSp>
        <p:nvCxnSpPr>
          <p:cNvPr id="7" name="Line 7"/>
          <p:cNvCxnSpPr/>
          <p:nvPr/>
        </p:nvCxnSpPr>
        <p:spPr>
          <a:xfrm flipH="1">
            <a:off x="4480560" y="1691639"/>
            <a:ext cx="1600200" cy="2697480"/>
          </a:xfrm>
          <a:prstGeom prst="line">
            <a:avLst/>
          </a:prstGeom>
          <a:ln w="50800">
            <a:solidFill>
              <a:srgbClr val="D6D0C4"/>
            </a:solidFill>
          </a:ln>
        </p:spPr>
      </p:cxnSp>
      <p:cxnSp>
        <p:nvCxnSpPr>
          <p:cNvPr id="8" name="Line 8"/>
          <p:cNvCxnSpPr/>
          <p:nvPr/>
        </p:nvCxnSpPr>
        <p:spPr>
          <a:xfrm>
            <a:off x="4480560" y="4389120"/>
            <a:ext cx="3200400" cy="0"/>
          </a:xfrm>
          <a:prstGeom prst="line">
            <a:avLst/>
          </a:prstGeom>
          <a:ln w="50800">
            <a:solidFill>
              <a:srgbClr val="D6D0C4"/>
            </a:solidFill>
          </a:ln>
        </p:spPr>
      </p:cxnSp>
      <p:cxnSp>
        <p:nvCxnSpPr>
          <p:cNvPr id="9" name="Line 9"/>
          <p:cNvCxnSpPr/>
          <p:nvPr/>
        </p:nvCxnSpPr>
        <p:spPr>
          <a:xfrm flipH="1" flipV="1">
            <a:off x="6080760" y="1691639"/>
            <a:ext cx="1600200" cy="2697480"/>
          </a:xfrm>
          <a:prstGeom prst="line">
            <a:avLst/>
          </a:prstGeom>
          <a:ln w="50800">
            <a:solidFill>
              <a:srgbClr val="D6D0C4"/>
            </a:solidFill>
          </a:ln>
        </p:spPr>
      </p:cxnSp>
      <p:sp>
        <p:nvSpPr>
          <p:cNvPr id="10" name="Shape 10"/>
          <p:cNvSpPr/>
          <p:nvPr/>
        </p:nvSpPr>
        <p:spPr>
          <a:xfrm>
            <a:off x="5166360" y="1371600"/>
            <a:ext cx="1828800" cy="841248"/>
          </a:xfrm>
          <a:prstGeom prst="round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5239512" y="1618488"/>
            <a:ext cx="1682496" cy="28803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c"/>
            <a:r>
              <a:rPr sz="1800" lang="en-US" b="1">
                <a:solidFill>
                  <a:srgbClr val="FFFFFF"/>
                </a:solidFill>
                <a:latin typeface="Arial"/>
              </a:rPr>
              <a:t>intent</a:t>
            </a:r>
          </a:p>
        </p:txBody>
      </p:sp>
      <p:sp>
        <p:nvSpPr>
          <p:cNvPr id="12" name="Shape 12"/>
          <p:cNvSpPr/>
          <p:nvPr/>
        </p:nvSpPr>
        <p:spPr>
          <a:xfrm>
            <a:off x="3566160" y="4069080"/>
            <a:ext cx="1828800" cy="841248"/>
          </a:xfrm>
          <a:prstGeom prst="roundRect">
            <a:avLst/>
          </a:prstGeom>
          <a:solidFill>
            <a:srgbClr val="506B8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3639312" y="4315968"/>
            <a:ext cx="1682496" cy="28803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c"/>
            <a:r>
              <a:rPr sz="1800" lang="en-US" b="1">
                <a:solidFill>
                  <a:srgbClr val="FFFFFF"/>
                </a:solidFill>
                <a:latin typeface="Arial"/>
              </a:rPr>
              <a:t>understanding</a:t>
            </a:r>
          </a:p>
        </p:txBody>
      </p:sp>
      <p:sp>
        <p:nvSpPr>
          <p:cNvPr id="14" name="Shape 14"/>
          <p:cNvSpPr/>
          <p:nvPr/>
        </p:nvSpPr>
        <p:spPr>
          <a:xfrm>
            <a:off x="6766560" y="4069080"/>
            <a:ext cx="1828800" cy="841248"/>
          </a:xfrm>
          <a:prstGeom prst="roundRect">
            <a:avLst/>
          </a:prstGeom>
          <a:solidFill>
            <a:srgbClr val="C69214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Text 15"/>
          <p:cNvSpPr txBox="1"/>
          <p:nvPr/>
        </p:nvSpPr>
        <p:spPr>
          <a:xfrm>
            <a:off x="6839712" y="4315968"/>
            <a:ext cx="1682496" cy="28803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c"/>
            <a:r>
              <a:rPr sz="1800" lang="en-US" b="1">
                <a:solidFill>
                  <a:srgbClr val="FFFFFF"/>
                </a:solidFill>
                <a:latin typeface="Arial"/>
              </a:rPr>
              <a:t>implementation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914400" y="5440680"/>
            <a:ext cx="10149840" cy="45034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c"/>
            <a:r>
              <a:rPr sz="1900" lang="en-US" b="1">
                <a:solidFill>
                  <a:srgbClr val="22252A"/>
                </a:solidFill>
                <a:latin typeface="Arial"/>
              </a:rPr>
              <a:t>This is the deck's main standard for agent-assisted work.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11292840" y="310896"/>
            <a:ext cx="201168" cy="201168"/>
          </a:xfrm>
          <a:prstGeom prst="roundRect">
            <a:avLst/>
          </a:prstGeom>
          <a:solidFill>
            <a:srgbClr val="135C5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530352" y="310896"/>
            <a:ext cx="8778240" cy="5623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2600" lang="en-US" b="1">
                <a:solidFill>
                  <a:srgbClr val="22252A"/>
                </a:solidFill>
                <a:latin typeface="Arial"/>
              </a:rPr>
              <a:t>Advice: Structure Your Understanding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566928" y="969264"/>
            <a:ext cx="10908792" cy="0"/>
          </a:xfrm>
          <a:prstGeom prst="line">
            <a:avLst/>
          </a:prstGeom>
          <a:ln w="12700">
            <a:solidFill>
              <a:srgbClr val="D6D0C4"/>
            </a:solidFill>
          </a:ln>
        </p:spPr>
      </p:cxnSp>
      <p:sp>
        <p:nvSpPr>
          <p:cNvPr id="7" name="Shape 7"/>
          <p:cNvSpPr/>
          <p:nvPr/>
        </p:nvSpPr>
        <p:spPr>
          <a:xfrm>
            <a:off x="713232" y="1325880"/>
            <a:ext cx="34290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8" name="Shape 8"/>
          <p:cNvSpPr/>
          <p:nvPr/>
        </p:nvSpPr>
        <p:spPr>
          <a:xfrm>
            <a:off x="713232" y="1325880"/>
            <a:ext cx="109728" cy="3383280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941832" y="1490472"/>
            <a:ext cx="301752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Core modules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941832" y="2020824"/>
            <a:ext cx="3017520" cy="257860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Understand the inner logic.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These are the places scientific choices live.</a:t>
            </a:r>
          </a:p>
        </p:txBody>
      </p:sp>
      <p:sp>
        <p:nvSpPr>
          <p:cNvPr id="11" name="Shape 11"/>
          <p:cNvSpPr/>
          <p:nvPr/>
        </p:nvSpPr>
        <p:spPr>
          <a:xfrm>
            <a:off x="4370832" y="1325880"/>
            <a:ext cx="34290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4370832" y="1325880"/>
            <a:ext cx="109728" cy="3383280"/>
          </a:xfrm>
          <a:prstGeom prst="rect">
            <a:avLst/>
          </a:prstGeom>
          <a:solidFill>
            <a:srgbClr val="506B8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4599432" y="1490472"/>
            <a:ext cx="301752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Other modules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4599432" y="2020824"/>
            <a:ext cx="3017520" cy="257860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Understand the interface.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Treat internals as a black box unless needed.</a:t>
            </a:r>
          </a:p>
        </p:txBody>
      </p:sp>
      <p:sp>
        <p:nvSpPr>
          <p:cNvPr id="15" name="Shape 15"/>
          <p:cNvSpPr/>
          <p:nvPr/>
        </p:nvSpPr>
        <p:spPr>
          <a:xfrm>
            <a:off x="8028431" y="1325880"/>
            <a:ext cx="34290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8028431" y="1325880"/>
            <a:ext cx="109728" cy="3383280"/>
          </a:xfrm>
          <a:prstGeom prst="rect">
            <a:avLst/>
          </a:prstGeom>
          <a:solidFill>
            <a:srgbClr val="C69214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8257031" y="1490472"/>
            <a:ext cx="301752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Whole codebase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57031" y="2020824"/>
            <a:ext cx="3017520" cy="257860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Understand relationships.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Know which changes should touch which modules.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914400" y="5559552"/>
            <a:ext cx="1033272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c"/>
            <a:r>
              <a:rPr sz="1800" lang="en-US" b="1">
                <a:solidFill>
                  <a:srgbClr val="22252A"/>
                </a:solidFill>
                <a:latin typeface="Arial"/>
              </a:rPr>
              <a:t>Heuristic: understand scientific logic at the level you would report in Methods or Supplement.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11292840" y="310896"/>
            <a:ext cx="201168" cy="201168"/>
          </a:xfrm>
          <a:prstGeom prst="roundRect">
            <a:avLst/>
          </a:prstGeom>
          <a:solidFill>
            <a:srgbClr val="135C5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530352" y="310896"/>
            <a:ext cx="8778240" cy="5623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2600" lang="en-US" b="1">
                <a:solidFill>
                  <a:srgbClr val="22252A"/>
                </a:solidFill>
                <a:latin typeface="Arial"/>
              </a:rPr>
              <a:t>Advice: Watch For Being Too Zoomed Out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566928" y="969264"/>
            <a:ext cx="10908792" cy="0"/>
          </a:xfrm>
          <a:prstGeom prst="line">
            <a:avLst/>
          </a:prstGeom>
          <a:ln w="12700">
            <a:solidFill>
              <a:srgbClr val="D6D0C4"/>
            </a:solidFill>
          </a:ln>
        </p:spPr>
      </p:cxnSp>
      <p:sp>
        <p:nvSpPr>
          <p:cNvPr id="7" name="Shape 7"/>
          <p:cNvSpPr/>
          <p:nvPr/>
        </p:nvSpPr>
        <p:spPr>
          <a:xfrm>
            <a:off x="777240" y="1325880"/>
            <a:ext cx="49377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8" name="Shape 8"/>
          <p:cNvSpPr/>
          <p:nvPr/>
        </p:nvSpPr>
        <p:spPr>
          <a:xfrm>
            <a:off x="777240" y="1325880"/>
            <a:ext cx="109728" cy="2011680"/>
          </a:xfrm>
          <a:prstGeom prst="rect">
            <a:avLst/>
          </a:prstGeom>
          <a:solidFill>
            <a:srgbClr val="D85A4A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1005840" y="1490472"/>
            <a:ext cx="452628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Warning signs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05840" y="2020824"/>
            <a:ext cx="4526280" cy="120700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You cannot predict which modules a change will touch.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The same area keeps producing bugs.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A simple task took long for unclear reasons.</a:t>
            </a:r>
          </a:p>
        </p:txBody>
      </p:sp>
      <p:sp>
        <p:nvSpPr>
          <p:cNvPr id="11" name="Shape 11"/>
          <p:cNvSpPr/>
          <p:nvPr/>
        </p:nvSpPr>
        <p:spPr>
          <a:xfrm>
            <a:off x="6400800" y="1325880"/>
            <a:ext cx="41605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6400800" y="1325880"/>
            <a:ext cx="109728" cy="2011680"/>
          </a:xfrm>
          <a:prstGeom prst="rect">
            <a:avLst/>
          </a:prstGeom>
          <a:solidFill>
            <a:srgbClr val="C69214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6629400" y="1490472"/>
            <a:ext cx="3749039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Example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629400" y="2020824"/>
            <a:ext cx="3749039" cy="120700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The agent silently performs liftover while merging datasets.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That might be fine, but you need to know.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960120" y="4160520"/>
            <a:ext cx="9875520" cy="7132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c"/>
            <a:r>
              <a:rPr sz="2300" lang="en-US" b="1">
                <a:solidFill>
                  <a:srgbClr val="22252A"/>
                </a:solidFill>
                <a:latin typeface="Arial"/>
              </a:rPr>
              <a:t>The point of the config is not to slow the agent down. It is to keep the human close enough to understand what happened.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35C5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xt 4"/>
          <p:cNvSpPr txBox="1"/>
          <p:nvPr/>
        </p:nvSpPr>
        <p:spPr>
          <a:xfrm>
            <a:off x="777240" y="8229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FFFFFF"/>
                </a:solidFill>
                <a:latin typeface="Arial"/>
              </a:rPr>
              <a:t>REPO UPDATE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713232" y="1572768"/>
            <a:ext cx="10287000" cy="11887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3900" lang="en-US" b="1">
                <a:solidFill>
                  <a:srgbClr val="FFFFFF"/>
                </a:solidFill>
                <a:latin typeface="Arial"/>
              </a:rPr>
              <a:t>What's New</a:t>
            </a:r>
          </a:p>
        </p:txBody>
      </p:sp>
      <p:sp>
        <p:nvSpPr>
          <p:cNvPr id="6" name="Shape 6"/>
          <p:cNvSpPr/>
          <p:nvPr/>
        </p:nvSpPr>
        <p:spPr>
          <a:xfrm>
            <a:off x="841248" y="3392424"/>
            <a:ext cx="109728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1078992" y="3291840"/>
            <a:ext cx="932688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>
                <a:solidFill>
                  <a:srgbClr val="FFFFFF"/>
                </a:solidFill>
                <a:latin typeface="Arial"/>
              </a:rPr>
              <a:t>From a Claude-only config to a lab agent config.</a:t>
            </a:r>
          </a:p>
        </p:txBody>
      </p:sp>
      <p:sp>
        <p:nvSpPr>
          <p:cNvPr id="8" name="Shape 8"/>
          <p:cNvSpPr/>
          <p:nvPr/>
        </p:nvSpPr>
        <p:spPr>
          <a:xfrm>
            <a:off x="841248" y="3895344"/>
            <a:ext cx="109728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1078992" y="3794760"/>
            <a:ext cx="932688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>
                <a:solidFill>
                  <a:srgbClr val="FFFFFF"/>
                </a:solidFill>
                <a:latin typeface="Arial"/>
              </a:rPr>
              <a:t>Two product-specific trees.</a:t>
            </a:r>
          </a:p>
        </p:txBody>
      </p:sp>
      <p:sp>
        <p:nvSpPr>
          <p:cNvPr id="10" name="Shape 10"/>
          <p:cNvSpPr/>
          <p:nvPr/>
        </p:nvSpPr>
        <p:spPr>
          <a:xfrm>
            <a:off x="841248" y="4398264"/>
            <a:ext cx="109728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1078992" y="4297680"/>
            <a:ext cx="932688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>
                <a:solidFill>
                  <a:srgbClr val="FFFFFF"/>
                </a:solidFill>
                <a:latin typeface="Arial"/>
              </a:rPr>
              <a:t>Shared tooling and shared workflow concepts.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11292840" y="310896"/>
            <a:ext cx="201168" cy="201168"/>
          </a:xfrm>
          <a:prstGeom prst="roundRect">
            <a:avLst/>
          </a:prstGeom>
          <a:solidFill>
            <a:srgbClr val="135C5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530352" y="310896"/>
            <a:ext cx="8778240" cy="5623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2600" lang="en-US" b="1">
                <a:solidFill>
                  <a:srgbClr val="22252A"/>
                </a:solidFill>
                <a:latin typeface="Arial"/>
              </a:rPr>
              <a:t>Two Agent Trees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566928" y="969264"/>
            <a:ext cx="10908792" cy="0"/>
          </a:xfrm>
          <a:prstGeom prst="line">
            <a:avLst/>
          </a:prstGeom>
          <a:ln w="12700">
            <a:solidFill>
              <a:srgbClr val="D6D0C4"/>
            </a:solidFill>
          </a:ln>
        </p:spPr>
      </p:cxnSp>
      <p:sp>
        <p:nvSpPr>
          <p:cNvPr id="7" name="Shape 7"/>
          <p:cNvSpPr/>
          <p:nvPr/>
        </p:nvSpPr>
        <p:spPr>
          <a:xfrm>
            <a:off x="841248" y="1417320"/>
            <a:ext cx="4663440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8" name="Shape 8"/>
          <p:cNvSpPr/>
          <p:nvPr/>
        </p:nvSpPr>
        <p:spPr>
          <a:xfrm>
            <a:off x="841248" y="1417320"/>
            <a:ext cx="109728" cy="3520440"/>
          </a:xfrm>
          <a:prstGeom prst="rect">
            <a:avLst/>
          </a:prstGeom>
          <a:solidFill>
            <a:srgbClr val="506B8B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1069848" y="1581912"/>
            <a:ext cx="4251959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Claude tree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69848" y="2112264"/>
            <a:ext cx="4251959" cy="27157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Claude Code prompts, settings, hooks, and skills.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Uses CLAUDE.md, slash commands, and .claude/skills.</a:t>
            </a:r>
          </a:p>
        </p:txBody>
      </p:sp>
      <p:sp>
        <p:nvSpPr>
          <p:cNvPr id="11" name="Shape 11"/>
          <p:cNvSpPr/>
          <p:nvPr/>
        </p:nvSpPr>
        <p:spPr>
          <a:xfrm>
            <a:off x="6629400" y="1417320"/>
            <a:ext cx="4663440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6629400" y="1417320"/>
            <a:ext cx="109728" cy="3520440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6858000" y="1581912"/>
            <a:ext cx="4251959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Codex tree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858000" y="2112264"/>
            <a:ext cx="4251959" cy="27157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Codex instructions, templates, and skills.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Uses AGENTS.md, $skill naming, and .agents/skills.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960120" y="5577840"/>
            <a:ext cx="1033272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c"/>
            <a:r>
              <a:rPr sz="1800" lang="en-US" b="1">
                <a:solidFill>
                  <a:srgbClr val="22252A"/>
                </a:solidFill>
                <a:latin typeface="Arial"/>
              </a:rPr>
              <a:t>Goal: preserve shared lab behavior while making product differences explicit.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11292840" y="310896"/>
            <a:ext cx="201168" cy="201168"/>
          </a:xfrm>
          <a:prstGeom prst="roundRect">
            <a:avLst/>
          </a:prstGeom>
          <a:solidFill>
            <a:srgbClr val="135C5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530352" y="310896"/>
            <a:ext cx="8778240" cy="5623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2600" lang="en-US" b="1">
                <a:solidFill>
                  <a:srgbClr val="22252A"/>
                </a:solidFill>
                <a:latin typeface="Arial"/>
              </a:rPr>
              <a:t>Shared Skill Taxonomy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566928" y="969264"/>
            <a:ext cx="10908792" cy="0"/>
          </a:xfrm>
          <a:prstGeom prst="line">
            <a:avLst/>
          </a:prstGeom>
          <a:ln w="12700">
            <a:solidFill>
              <a:srgbClr val="D6D0C4"/>
            </a:solidFill>
          </a:ln>
        </p:spPr>
      </p:cxnSp>
      <p:sp>
        <p:nvSpPr>
          <p:cNvPr id="7" name="Text 7"/>
          <p:cNvSpPr txBox="1"/>
          <p:nvPr/>
        </p:nvSpPr>
        <p:spPr>
          <a:xfrm>
            <a:off x="822960" y="1307592"/>
            <a:ext cx="4937760" cy="53035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2400" lang="en-US" b="1">
                <a:solidFill>
                  <a:srgbClr val="22252A"/>
                </a:solidFill>
                <a:latin typeface="Arial"/>
              </a:rPr>
              <a:t>Same families, different surfaces.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896112" y="1938528"/>
            <a:ext cx="4892040" cy="20116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The new layout keeps Claude and Codex aligned unless there is a product-specific reason to diverge.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Subskills keep specialized instructions out of the top-level skill list.</a:t>
            </a:r>
          </a:p>
        </p:txBody>
      </p:sp>
      <p:sp>
        <p:nvSpPr>
          <p:cNvPr id="9" name="Shape 9"/>
          <p:cNvSpPr/>
          <p:nvPr/>
        </p:nvSpPr>
        <p:spPr>
          <a:xfrm>
            <a:off x="6446520" y="1353312"/>
            <a:ext cx="393192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10" name="Text 10"/>
          <p:cNvSpPr txBox="1"/>
          <p:nvPr/>
        </p:nvSpPr>
        <p:spPr>
          <a:xfrm>
            <a:off x="6766560" y="1719072"/>
            <a:ext cx="3291840" cy="20116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 b="1">
                <a:solidFill>
                  <a:srgbClr val="135C5B"/>
                </a:solidFill>
                <a:latin typeface="Arial"/>
              </a:rPr>
              <a:t>work-cycle</a:t>
            </a:r>
          </a:p>
          <a:p>
            <a:pPr algn="l">
              <a:lnSpc>
                <a:spcPct val="105000"/>
              </a:lnSpc>
            </a:pPr>
            <a:r>
              <a:rPr sz="1800" lang="en-US" b="1">
                <a:solidFill>
                  <a:srgbClr val="135C5B"/>
                </a:solidFill>
                <a:latin typeface="Arial"/>
              </a:rPr>
              <a:t>artifacts</a:t>
            </a:r>
          </a:p>
          <a:p>
            <a:pPr algn="l">
              <a:lnSpc>
                <a:spcPct val="105000"/>
              </a:lnSpc>
            </a:pPr>
            <a:r>
              <a:rPr sz="1800" lang="en-US" b="1">
                <a:solidFill>
                  <a:srgbClr val="135C5B"/>
                </a:solidFill>
                <a:latin typeface="Arial"/>
              </a:rPr>
              <a:t>documentation</a:t>
            </a:r>
          </a:p>
          <a:p>
            <a:pPr algn="l">
              <a:lnSpc>
                <a:spcPct val="105000"/>
              </a:lnSpc>
            </a:pPr>
            <a:r>
              <a:rPr sz="1800" lang="en-US" b="1">
                <a:solidFill>
                  <a:srgbClr val="135C5B"/>
                </a:solidFill>
                <a:latin typeface="Arial"/>
              </a:rPr>
              <a:t>systematize</a:t>
            </a:r>
          </a:p>
          <a:p>
            <a:pPr algn="l">
              <a:lnSpc>
                <a:spcPct val="105000"/>
              </a:lnSpc>
            </a:pPr>
            <a:r>
              <a:rPr sz="1800" lang="en-US" b="1">
                <a:solidFill>
                  <a:srgbClr val="135C5B"/>
                </a:solidFill>
                <a:latin typeface="Arial"/>
              </a:rPr>
              <a:t>notebook and resume</a:t>
            </a:r>
          </a:p>
          <a:p>
            <a:pPr algn="l">
              <a:lnSpc>
                <a:spcPct val="105000"/>
              </a:lnSpc>
            </a:pPr>
            <a:r>
              <a:rPr sz="1800" lang="en-US" b="1">
                <a:solidFill>
                  <a:srgbClr val="135C5B"/>
                </a:solidFill>
                <a:latin typeface="Arial"/>
              </a:rPr>
              <a:t>O2 / DNAnexus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11292840" y="310896"/>
            <a:ext cx="201168" cy="201168"/>
          </a:xfrm>
          <a:prstGeom prst="roundRect">
            <a:avLst/>
          </a:prstGeom>
          <a:solidFill>
            <a:srgbClr val="135C5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530352" y="310896"/>
            <a:ext cx="8778240" cy="5623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2600" lang="en-US" b="1">
                <a:solidFill>
                  <a:srgbClr val="22252A"/>
                </a:solidFill>
                <a:latin typeface="Arial"/>
              </a:rPr>
              <a:t>Setup Model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566928" y="969264"/>
            <a:ext cx="10908792" cy="0"/>
          </a:xfrm>
          <a:prstGeom prst="line">
            <a:avLst/>
          </a:prstGeom>
          <a:ln w="12700">
            <a:solidFill>
              <a:srgbClr val="D6D0C4"/>
            </a:solidFill>
          </a:ln>
        </p:spPr>
      </p:cxnSp>
      <p:sp>
        <p:nvSpPr>
          <p:cNvPr id="7" name="Shape 7"/>
          <p:cNvSpPr/>
          <p:nvPr/>
        </p:nvSpPr>
        <p:spPr>
          <a:xfrm>
            <a:off x="822960" y="1417320"/>
            <a:ext cx="475488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8" name="Shape 8"/>
          <p:cNvSpPr/>
          <p:nvPr/>
        </p:nvSpPr>
        <p:spPr>
          <a:xfrm>
            <a:off x="822960" y="1417320"/>
            <a:ext cx="109728" cy="3246120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1051560" y="1581912"/>
            <a:ext cx="434340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New CLI tool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51560" y="2112264"/>
            <a:ext cx="4343400" cy="24414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A unified setup and skill-link manager.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Primarily intended for the model to use while helping users configure the environment.</a:t>
            </a:r>
          </a:p>
        </p:txBody>
      </p:sp>
      <p:sp>
        <p:nvSpPr>
          <p:cNvPr id="11" name="Shape 11"/>
          <p:cNvSpPr/>
          <p:nvPr/>
        </p:nvSpPr>
        <p:spPr>
          <a:xfrm>
            <a:off x="6446520" y="1417320"/>
            <a:ext cx="475488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6446520" y="1417320"/>
            <a:ext cx="109728" cy="3246120"/>
          </a:xfrm>
          <a:prstGeom prst="rect">
            <a:avLst/>
          </a:prstGeom>
          <a:solidFill>
            <a:srgbClr val="D85A4A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6675120" y="1581912"/>
            <a:ext cx="434340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User instruction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675120" y="2112264"/>
            <a:ext cx="4343400" cy="24414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Because the repo shape changed substantially, re-setup from scratch.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Do not try to patch an old install by hand.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506B8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xt 4"/>
          <p:cNvSpPr txBox="1"/>
          <p:nvPr/>
        </p:nvSpPr>
        <p:spPr>
          <a:xfrm>
            <a:off x="777240" y="8229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FFFFFF"/>
                </a:solidFill>
                <a:latin typeface="Arial"/>
              </a:rPr>
              <a:t>TOOL CHOICE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713232" y="1572768"/>
            <a:ext cx="10287000" cy="11887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3900" lang="en-US" b="1">
                <a:solidFill>
                  <a:srgbClr val="FFFFFF"/>
                </a:solidFill>
                <a:latin typeface="Arial"/>
              </a:rPr>
              <a:t>Codex vs Claude</a:t>
            </a:r>
          </a:p>
        </p:txBody>
      </p:sp>
      <p:sp>
        <p:nvSpPr>
          <p:cNvPr id="6" name="Shape 6"/>
          <p:cNvSpPr/>
          <p:nvPr/>
        </p:nvSpPr>
        <p:spPr>
          <a:xfrm>
            <a:off x="841248" y="3392424"/>
            <a:ext cx="109728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1078992" y="3291840"/>
            <a:ext cx="932688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>
                <a:solidFill>
                  <a:srgbClr val="FFFFFF"/>
                </a:solidFill>
                <a:latin typeface="Arial"/>
              </a:rPr>
              <a:t>Most people should choose one primary interface.</a:t>
            </a:r>
          </a:p>
        </p:txBody>
      </p:sp>
      <p:sp>
        <p:nvSpPr>
          <p:cNvPr id="8" name="Shape 8"/>
          <p:cNvSpPr/>
          <p:nvPr/>
        </p:nvSpPr>
        <p:spPr>
          <a:xfrm>
            <a:off x="841248" y="3895344"/>
            <a:ext cx="109728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1078992" y="3794760"/>
            <a:ext cx="932688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>
                <a:solidFill>
                  <a:srgbClr val="FFFFFF"/>
                </a:solidFill>
                <a:latin typeface="Arial"/>
              </a:rPr>
              <a:t>Codex may shine when the spec is clear.</a:t>
            </a:r>
          </a:p>
        </p:txBody>
      </p:sp>
      <p:sp>
        <p:nvSpPr>
          <p:cNvPr id="10" name="Shape 10"/>
          <p:cNvSpPr/>
          <p:nvPr/>
        </p:nvSpPr>
        <p:spPr>
          <a:xfrm>
            <a:off x="841248" y="4398264"/>
            <a:ext cx="109728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1078992" y="4297680"/>
            <a:ext cx="932688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>
                <a:solidFill>
                  <a:srgbClr val="FFFFFF"/>
                </a:solidFill>
                <a:latin typeface="Arial"/>
              </a:rPr>
              <a:t>Claude may shine when the problem is still taking shape.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11292840" y="310896"/>
            <a:ext cx="201168" cy="201168"/>
          </a:xfrm>
          <a:prstGeom prst="roundRect">
            <a:avLst/>
          </a:prstGeom>
          <a:solidFill>
            <a:srgbClr val="135C5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530352" y="310896"/>
            <a:ext cx="8778240" cy="5623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2600" lang="en-US" b="1">
                <a:solidFill>
                  <a:srgbClr val="22252A"/>
                </a:solidFill>
                <a:latin typeface="Arial"/>
              </a:rPr>
              <a:t>Codex vs Claude: Field Report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566928" y="969264"/>
            <a:ext cx="10908792" cy="0"/>
          </a:xfrm>
          <a:prstGeom prst="line">
            <a:avLst/>
          </a:prstGeom>
          <a:ln w="12700">
            <a:solidFill>
              <a:srgbClr val="D6D0C4"/>
            </a:solidFill>
          </a:ln>
        </p:spPr>
      </p:cxnSp>
      <p:sp>
        <p:nvSpPr>
          <p:cNvPr id="7" name="Shape 7"/>
          <p:cNvSpPr/>
          <p:nvPr/>
        </p:nvSpPr>
        <p:spPr>
          <a:xfrm>
            <a:off x="786384" y="1261872"/>
            <a:ext cx="1060704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8" name="Text 8"/>
          <p:cNvSpPr txBox="1"/>
          <p:nvPr/>
        </p:nvSpPr>
        <p:spPr>
          <a:xfrm>
            <a:off x="1060704" y="1536192"/>
            <a:ext cx="1001268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135C5B"/>
                </a:solidFill>
                <a:latin typeface="Arial"/>
              </a:rPr>
              <a:t>Kangcheng: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060704" y="1947672"/>
            <a:ext cx="9921240" cy="29992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22252A"/>
                </a:solidFill>
                <a:latin typeface="Arial"/>
              </a:rPr>
              <a:t>I have mostly used Claude, but I've used Codex more this past week and now have a clearer sense of where each works better: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22252A"/>
                </a:solidFill>
                <a:latin typeface="Arial"/>
              </a:rPr>
              <a:t>Codex: slightly better when I know exactly what I want, have a clear spec / prompt, and have explicit validation criteria.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22252A"/>
                </a:solidFill>
                <a:latin typeface="Arial"/>
              </a:rPr>
              <a:t>Claude: better when problem / spec still unclear. I still prefer using that to go back and forth explore the data and formalize.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60704" y="5047488"/>
            <a:ext cx="987552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i="1">
                <a:solidFill>
                  <a:srgbClr val="5D646B"/>
                </a:solidFill>
                <a:latin typeface="Arial"/>
              </a:rPr>
              <a:t>Paraphrased takeaway: Codex for crisp execution; Claude for exploratory formalization.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11292840" y="310896"/>
            <a:ext cx="201168" cy="201168"/>
          </a:xfrm>
          <a:prstGeom prst="roundRect">
            <a:avLst/>
          </a:prstGeom>
          <a:solidFill>
            <a:srgbClr val="135C5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530352" y="310896"/>
            <a:ext cx="8778240" cy="5623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2600" lang="en-US" b="1">
                <a:solidFill>
                  <a:srgbClr val="22252A"/>
                </a:solidFill>
                <a:latin typeface="Arial"/>
              </a:rPr>
              <a:t>Subscription Policy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566928" y="969264"/>
            <a:ext cx="10908792" cy="0"/>
          </a:xfrm>
          <a:prstGeom prst="line">
            <a:avLst/>
          </a:prstGeom>
          <a:ln w="12700">
            <a:solidFill>
              <a:srgbClr val="D6D0C4"/>
            </a:solidFill>
          </a:ln>
        </p:spPr>
      </p:cxnSp>
      <p:sp>
        <p:nvSpPr>
          <p:cNvPr id="7" name="Shape 7"/>
          <p:cNvSpPr/>
          <p:nvPr/>
        </p:nvSpPr>
        <p:spPr>
          <a:xfrm>
            <a:off x="777240" y="1325880"/>
            <a:ext cx="3383280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8" name="Shape 8"/>
          <p:cNvSpPr/>
          <p:nvPr/>
        </p:nvSpPr>
        <p:spPr>
          <a:xfrm>
            <a:off x="777240" y="1325880"/>
            <a:ext cx="109728" cy="3520440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1005840" y="1490472"/>
            <a:ext cx="297180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Default advice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05840" y="2020824"/>
            <a:ext cx="2971800" cy="27157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Pick one primary tool.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Learn the model quirks and interface deeply.</a:t>
            </a:r>
          </a:p>
        </p:txBody>
      </p:sp>
      <p:sp>
        <p:nvSpPr>
          <p:cNvPr id="11" name="Shape 11"/>
          <p:cNvSpPr/>
          <p:nvPr/>
        </p:nvSpPr>
        <p:spPr>
          <a:xfrm>
            <a:off x="4407408" y="1325880"/>
            <a:ext cx="3383280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4407408" y="1325880"/>
            <a:ext cx="109728" cy="3520440"/>
          </a:xfrm>
          <a:prstGeom prst="rect">
            <a:avLst/>
          </a:prstGeom>
          <a:solidFill>
            <a:srgbClr val="506B8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4636008" y="1490472"/>
            <a:ext cx="297180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Luke's current pick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4636008" y="2020824"/>
            <a:ext cx="2971800" cy="27157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Try ChatGPT Pro / Codex.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ChatGPT Pro is a real current advantage.</a:t>
            </a:r>
          </a:p>
        </p:txBody>
      </p:sp>
      <p:sp>
        <p:nvSpPr>
          <p:cNvPr id="15" name="Shape 15"/>
          <p:cNvSpPr/>
          <p:nvPr/>
        </p:nvSpPr>
        <p:spPr>
          <a:xfrm>
            <a:off x="8028431" y="1325880"/>
            <a:ext cx="3383280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8028431" y="1325880"/>
            <a:ext cx="109728" cy="3520440"/>
          </a:xfrm>
          <a:prstGeom prst="rect">
            <a:avLst/>
          </a:prstGeom>
          <a:solidFill>
            <a:srgbClr val="C69214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8257031" y="1490472"/>
            <a:ext cx="297180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Using both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57031" y="2020824"/>
            <a:ext cx="2971800" cy="27157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Fine if you actually use both.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The extra subscription and learning overhead should be intentional.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11292840" y="310896"/>
            <a:ext cx="201168" cy="201168"/>
          </a:xfrm>
          <a:prstGeom prst="roundRect">
            <a:avLst/>
          </a:prstGeom>
          <a:solidFill>
            <a:srgbClr val="135C5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530352" y="310896"/>
            <a:ext cx="8778240" cy="5623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2600" lang="en-US" b="1">
                <a:solidFill>
                  <a:srgbClr val="22252A"/>
                </a:solidFill>
                <a:latin typeface="Arial"/>
              </a:rPr>
              <a:t>How Luke Uses GPT-Pro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566928" y="969264"/>
            <a:ext cx="10908792" cy="0"/>
          </a:xfrm>
          <a:prstGeom prst="line">
            <a:avLst/>
          </a:prstGeom>
          <a:ln w="12700">
            <a:solidFill>
              <a:srgbClr val="D6D0C4"/>
            </a:solidFill>
          </a:ln>
        </p:spPr>
      </p:cxnSp>
      <p:sp>
        <p:nvSpPr>
          <p:cNvPr id="7" name="Shape 7"/>
          <p:cNvSpPr/>
          <p:nvPr/>
        </p:nvSpPr>
        <p:spPr>
          <a:xfrm>
            <a:off x="777240" y="1325880"/>
            <a:ext cx="329184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8" name="Shape 8"/>
          <p:cNvSpPr/>
          <p:nvPr/>
        </p:nvSpPr>
        <p:spPr>
          <a:xfrm>
            <a:off x="777240" y="1325880"/>
            <a:ext cx="109728" cy="3246120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1005840" y="1490472"/>
            <a:ext cx="288036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Long prompts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05840" y="2020824"/>
            <a:ext cx="2880360" cy="24414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Voice-to-text is welcome.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Prompts can be rough if they contain the real context.</a:t>
            </a:r>
          </a:p>
        </p:txBody>
      </p:sp>
      <p:sp>
        <p:nvSpPr>
          <p:cNvPr id="11" name="Shape 11"/>
          <p:cNvSpPr/>
          <p:nvPr/>
        </p:nvSpPr>
        <p:spPr>
          <a:xfrm>
            <a:off x="4407408" y="1325880"/>
            <a:ext cx="329184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4407408" y="1325880"/>
            <a:ext cx="109728" cy="3246120"/>
          </a:xfrm>
          <a:prstGeom prst="rect">
            <a:avLst/>
          </a:prstGeom>
          <a:solidFill>
            <a:srgbClr val="506B8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4636008" y="1490472"/>
            <a:ext cx="288036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Planning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4636008" y="2020824"/>
            <a:ext cx="2880360" cy="24414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Ask detailed questions.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Use Plan Mode before substantial work.</a:t>
            </a:r>
          </a:p>
        </p:txBody>
      </p:sp>
      <p:sp>
        <p:nvSpPr>
          <p:cNvPr id="15" name="Shape 15"/>
          <p:cNvSpPr/>
          <p:nvPr/>
        </p:nvSpPr>
        <p:spPr>
          <a:xfrm>
            <a:off x="8028431" y="1325880"/>
            <a:ext cx="329184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8028431" y="1325880"/>
            <a:ext cx="109728" cy="3246120"/>
          </a:xfrm>
          <a:prstGeom prst="rect">
            <a:avLst/>
          </a:prstGeom>
          <a:solidFill>
            <a:srgbClr val="C69214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8257031" y="1490472"/>
            <a:ext cx="288036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Execution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57031" y="2020824"/>
            <a:ext cx="2880360" cy="24414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Clear specs plus validation criteria.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Let the model run end-to-end when the target is crisp.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960120" y="5486400"/>
            <a:ext cx="1014984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c"/>
            <a:r>
              <a:rPr sz="1800" lang="en-US" b="1">
                <a:solidFill>
                  <a:srgbClr val="D85A4A"/>
                </a:solidFill>
                <a:latin typeface="Arial"/>
              </a:rPr>
              <a:t>Placeholder for concrete examples to add before presenting.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35C5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xt 4"/>
          <p:cNvSpPr txBox="1"/>
          <p:nvPr/>
        </p:nvSpPr>
        <p:spPr>
          <a:xfrm>
            <a:off x="777240" y="8229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FFFFFF"/>
                </a:solidFill>
                <a:latin typeface="Arial"/>
              </a:rPr>
              <a:t>CORE WORKFLOW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713232" y="1572768"/>
            <a:ext cx="10287000" cy="11887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3900" lang="en-US" b="1">
                <a:solidFill>
                  <a:srgbClr val="FFFFFF"/>
                </a:solidFill>
                <a:latin typeface="Arial"/>
              </a:rPr>
              <a:t>Work-Cycle Skill</a:t>
            </a:r>
          </a:p>
        </p:txBody>
      </p:sp>
      <p:sp>
        <p:nvSpPr>
          <p:cNvPr id="6" name="Shape 6"/>
          <p:cNvSpPr/>
          <p:nvPr/>
        </p:nvSpPr>
        <p:spPr>
          <a:xfrm>
            <a:off x="841248" y="3392424"/>
            <a:ext cx="109728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1078992" y="3291840"/>
            <a:ext cx="932688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>
                <a:solidFill>
                  <a:srgbClr val="FFFFFF"/>
                </a:solidFill>
                <a:latin typeface="Arial"/>
              </a:rPr>
              <a:t>Manual trigger only.</a:t>
            </a:r>
          </a:p>
        </p:txBody>
      </p:sp>
      <p:sp>
        <p:nvSpPr>
          <p:cNvPr id="8" name="Shape 8"/>
          <p:cNvSpPr/>
          <p:nvPr/>
        </p:nvSpPr>
        <p:spPr>
          <a:xfrm>
            <a:off x="841248" y="3895344"/>
            <a:ext cx="109728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1078992" y="3794760"/>
            <a:ext cx="932688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>
                <a:solidFill>
                  <a:srgbClr val="FFFFFF"/>
                </a:solidFill>
                <a:latin typeface="Arial"/>
              </a:rPr>
              <a:t>Applies to software, analyses, and artifacts.</a:t>
            </a:r>
          </a:p>
        </p:txBody>
      </p:sp>
      <p:sp>
        <p:nvSpPr>
          <p:cNvPr id="10" name="Shape 10"/>
          <p:cNvSpPr/>
          <p:nvPr/>
        </p:nvSpPr>
        <p:spPr>
          <a:xfrm>
            <a:off x="841248" y="4398264"/>
            <a:ext cx="109728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1078992" y="4297680"/>
            <a:ext cx="932688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>
                <a:solidFill>
                  <a:srgbClr val="FFFFFF"/>
                </a:solidFill>
                <a:latin typeface="Arial"/>
              </a:rPr>
              <a:t>Its job is alignment before execution.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11292840" y="310896"/>
            <a:ext cx="201168" cy="201168"/>
          </a:xfrm>
          <a:prstGeom prst="roundRect">
            <a:avLst/>
          </a:prstGeom>
          <a:solidFill>
            <a:srgbClr val="135C5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530352" y="310896"/>
            <a:ext cx="8778240" cy="5623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2600" lang="en-US" b="1">
                <a:solidFill>
                  <a:srgbClr val="22252A"/>
                </a:solidFill>
                <a:latin typeface="Arial"/>
              </a:rPr>
              <a:t>Work-Cycle: What It Is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566928" y="969264"/>
            <a:ext cx="10908792" cy="0"/>
          </a:xfrm>
          <a:prstGeom prst="line">
            <a:avLst/>
          </a:prstGeom>
          <a:ln w="12700">
            <a:solidFill>
              <a:srgbClr val="D6D0C4"/>
            </a:solidFill>
          </a:ln>
        </p:spPr>
      </p:cxnSp>
      <p:sp>
        <p:nvSpPr>
          <p:cNvPr id="7" name="Shape 7"/>
          <p:cNvSpPr/>
          <p:nvPr/>
        </p:nvSpPr>
        <p:spPr>
          <a:xfrm>
            <a:off x="731520" y="1298448"/>
            <a:ext cx="480060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8" name="Shape 8"/>
          <p:cNvSpPr/>
          <p:nvPr/>
        </p:nvSpPr>
        <p:spPr>
          <a:xfrm>
            <a:off x="731520" y="1298448"/>
            <a:ext cx="109728" cy="3474720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960120" y="1463039"/>
            <a:ext cx="438912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Scope</a:t>
            </a:r>
          </a:p>
        </p:txBody>
      </p:sp>
      <p:sp>
        <p:nvSpPr>
          <p:cNvPr id="10" name="Shape 10"/>
          <p:cNvSpPr/>
          <p:nvPr/>
        </p:nvSpPr>
        <p:spPr>
          <a:xfrm>
            <a:off x="3246120" y="1444751"/>
            <a:ext cx="2057400" cy="475488"/>
          </a:xfrm>
          <a:prstGeom prst="roundRect">
            <a:avLst/>
          </a:prstGeom>
          <a:solidFill>
            <a:srgbClr val="C6921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3300984" y="1545336"/>
            <a:ext cx="1947672" cy="28803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c"/>
            <a:r>
              <a:rPr sz="1800" lang="en-US" b="1">
                <a:solidFill>
                  <a:srgbClr val="FFFFFF"/>
                </a:solidFill>
                <a:latin typeface="Arial"/>
              </a:rPr>
              <a:t>MANUAL-ONLY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960120" y="1993391"/>
            <a:ext cx="4389120" cy="26700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For substantial work where mistakes are expensive or ambiguous.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Not just code: also analyses and public artifacts.</a:t>
            </a:r>
          </a:p>
        </p:txBody>
      </p:sp>
      <p:sp>
        <p:nvSpPr>
          <p:cNvPr id="13" name="Shape 13"/>
          <p:cNvSpPr/>
          <p:nvPr/>
        </p:nvSpPr>
        <p:spPr>
          <a:xfrm>
            <a:off x="6400800" y="1298448"/>
            <a:ext cx="480060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6400800" y="1298448"/>
            <a:ext cx="109728" cy="3474720"/>
          </a:xfrm>
          <a:prstGeom prst="rect">
            <a:avLst/>
          </a:prstGeom>
          <a:solidFill>
            <a:srgbClr val="506B8B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Text 15"/>
          <p:cNvSpPr txBox="1"/>
          <p:nvPr/>
        </p:nvSpPr>
        <p:spPr>
          <a:xfrm>
            <a:off x="6629400" y="1463039"/>
            <a:ext cx="438912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Core promise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6629400" y="1993391"/>
            <a:ext cx="4389120" cy="26700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Ground in the environment.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Ask detailed questions.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Draft a concrete plan.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Implement and verify against the plan.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11292840" y="310896"/>
            <a:ext cx="201168" cy="201168"/>
          </a:xfrm>
          <a:prstGeom prst="roundRect">
            <a:avLst/>
          </a:prstGeom>
          <a:solidFill>
            <a:srgbClr val="135C5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530352" y="310896"/>
            <a:ext cx="8778240" cy="5623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2600" lang="en-US" b="1">
                <a:solidFill>
                  <a:srgbClr val="22252A"/>
                </a:solidFill>
                <a:latin typeface="Arial"/>
              </a:rPr>
              <a:t>Work-Cycle: Planning First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566928" y="969264"/>
            <a:ext cx="10908792" cy="0"/>
          </a:xfrm>
          <a:prstGeom prst="line">
            <a:avLst/>
          </a:prstGeom>
          <a:ln w="12700">
            <a:solidFill>
              <a:srgbClr val="D6D0C4"/>
            </a:solidFill>
          </a:ln>
        </p:spPr>
      </p:cxnSp>
      <p:sp>
        <p:nvSpPr>
          <p:cNvPr id="7" name="Shape 7"/>
          <p:cNvSpPr/>
          <p:nvPr/>
        </p:nvSpPr>
        <p:spPr>
          <a:xfrm>
            <a:off x="868680" y="1874519"/>
            <a:ext cx="1965960" cy="841248"/>
          </a:xfrm>
          <a:prstGeom prst="round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Text 8"/>
          <p:cNvSpPr txBox="1"/>
          <p:nvPr/>
        </p:nvSpPr>
        <p:spPr>
          <a:xfrm>
            <a:off x="941832" y="2121408"/>
            <a:ext cx="1819656" cy="28803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c"/>
            <a:r>
              <a:rPr sz="1800" lang="en-US" b="1">
                <a:solidFill>
                  <a:srgbClr val="FFFFFF"/>
                </a:solidFill>
                <a:latin typeface="Arial"/>
              </a:rPr>
              <a:t>explore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2880360" y="2221992"/>
            <a:ext cx="777240" cy="0"/>
          </a:xfrm>
          <a:prstGeom prst="line">
            <a:avLst/>
          </a:prstGeom>
          <a:ln w="38100">
            <a:solidFill>
              <a:srgbClr val="D6D0C4"/>
            </a:solidFill>
          </a:ln>
        </p:spPr>
      </p:cxnSp>
      <p:sp>
        <p:nvSpPr>
          <p:cNvPr id="10" name="Shape 10"/>
          <p:cNvSpPr/>
          <p:nvPr/>
        </p:nvSpPr>
        <p:spPr>
          <a:xfrm>
            <a:off x="3794760" y="1874519"/>
            <a:ext cx="1965960" cy="841248"/>
          </a:xfrm>
          <a:prstGeom prst="roundRect">
            <a:avLst/>
          </a:prstGeom>
          <a:solidFill>
            <a:srgbClr val="506B8B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3867912" y="2121408"/>
            <a:ext cx="1819656" cy="28803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c"/>
            <a:r>
              <a:rPr sz="1800" lang="en-US" b="1">
                <a:solidFill>
                  <a:srgbClr val="FFFFFF"/>
                </a:solidFill>
                <a:latin typeface="Arial"/>
              </a:rPr>
              <a:t>ask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5806440" y="2221992"/>
            <a:ext cx="777240" cy="0"/>
          </a:xfrm>
          <a:prstGeom prst="line">
            <a:avLst/>
          </a:prstGeom>
          <a:ln w="38100">
            <a:solidFill>
              <a:srgbClr val="D6D0C4"/>
            </a:solidFill>
          </a:ln>
        </p:spPr>
      </p:cxnSp>
      <p:sp>
        <p:nvSpPr>
          <p:cNvPr id="13" name="Shape 13"/>
          <p:cNvSpPr/>
          <p:nvPr/>
        </p:nvSpPr>
        <p:spPr>
          <a:xfrm>
            <a:off x="6720840" y="1874519"/>
            <a:ext cx="1965960" cy="841248"/>
          </a:xfrm>
          <a:prstGeom prst="roundRect">
            <a:avLst/>
          </a:prstGeom>
          <a:solidFill>
            <a:srgbClr val="C69214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Text 14"/>
          <p:cNvSpPr txBox="1"/>
          <p:nvPr/>
        </p:nvSpPr>
        <p:spPr>
          <a:xfrm>
            <a:off x="6793992" y="2121408"/>
            <a:ext cx="1819656" cy="28803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c"/>
            <a:r>
              <a:rPr sz="1800" lang="en-US" b="1">
                <a:solidFill>
                  <a:srgbClr val="FFFFFF"/>
                </a:solidFill>
                <a:latin typeface="Arial"/>
              </a:rPr>
              <a:t>align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8732520" y="2221992"/>
            <a:ext cx="777239" cy="0"/>
          </a:xfrm>
          <a:prstGeom prst="line">
            <a:avLst/>
          </a:prstGeom>
          <a:ln w="38100">
            <a:solidFill>
              <a:srgbClr val="D6D0C4"/>
            </a:solidFill>
          </a:ln>
        </p:spPr>
      </p:cxnSp>
      <p:sp>
        <p:nvSpPr>
          <p:cNvPr id="16" name="Shape 16"/>
          <p:cNvSpPr/>
          <p:nvPr/>
        </p:nvSpPr>
        <p:spPr>
          <a:xfrm>
            <a:off x="9646920" y="1874519"/>
            <a:ext cx="1965960" cy="841248"/>
          </a:xfrm>
          <a:prstGeom prst="roundRect">
            <a:avLst/>
          </a:prstGeom>
          <a:solidFill>
            <a:srgbClr val="D85A4A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9720072" y="2121408"/>
            <a:ext cx="1819656" cy="28803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c"/>
            <a:r>
              <a:rPr sz="1800" lang="en-US" b="1">
                <a:solidFill>
                  <a:srgbClr val="FFFFFF"/>
                </a:solidFill>
                <a:latin typeface="Arial"/>
              </a:rPr>
              <a:t>plan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914400" y="3520440"/>
            <a:ext cx="10149840" cy="8229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c"/>
            <a:r>
              <a:rPr sz="2200" lang="en-US" b="1">
                <a:solidFill>
                  <a:srgbClr val="22252A"/>
                </a:solidFill>
                <a:latin typeface="Arial"/>
              </a:rPr>
              <a:t>The agent should discover what it can from the repo before asking. Questions should change the plan, not create busywork.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11292840" y="310896"/>
            <a:ext cx="201168" cy="201168"/>
          </a:xfrm>
          <a:prstGeom prst="roundRect">
            <a:avLst/>
          </a:prstGeom>
          <a:solidFill>
            <a:srgbClr val="135C5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530352" y="310896"/>
            <a:ext cx="8778240" cy="5623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2600" lang="en-US" b="1">
                <a:solidFill>
                  <a:srgbClr val="22252A"/>
                </a:solidFill>
                <a:latin typeface="Arial"/>
              </a:rPr>
              <a:t>Work-Cycle: Implementation Loop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566928" y="969264"/>
            <a:ext cx="10908792" cy="0"/>
          </a:xfrm>
          <a:prstGeom prst="line">
            <a:avLst/>
          </a:prstGeom>
          <a:ln w="12700">
            <a:solidFill>
              <a:srgbClr val="D6D0C4"/>
            </a:solidFill>
          </a:ln>
        </p:spPr>
      </p:cxnSp>
      <p:sp>
        <p:nvSpPr>
          <p:cNvPr id="7" name="Shape 7"/>
          <p:cNvSpPr/>
          <p:nvPr/>
        </p:nvSpPr>
        <p:spPr>
          <a:xfrm>
            <a:off x="777240" y="1325880"/>
            <a:ext cx="333756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8" name="Shape 8"/>
          <p:cNvSpPr/>
          <p:nvPr/>
        </p:nvSpPr>
        <p:spPr>
          <a:xfrm>
            <a:off x="777240" y="1325880"/>
            <a:ext cx="109728" cy="3246120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1005840" y="1490472"/>
            <a:ext cx="2926079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1. Build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05840" y="2020824"/>
            <a:ext cx="2926079" cy="24414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Implement from the aligned plan.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Use repo conventions and keep scope tight.</a:t>
            </a:r>
          </a:p>
        </p:txBody>
      </p:sp>
      <p:sp>
        <p:nvSpPr>
          <p:cNvPr id="11" name="Shape 11"/>
          <p:cNvSpPr/>
          <p:nvPr/>
        </p:nvSpPr>
        <p:spPr>
          <a:xfrm>
            <a:off x="4434840" y="1325880"/>
            <a:ext cx="333756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4434840" y="1325880"/>
            <a:ext cx="109728" cy="3246120"/>
          </a:xfrm>
          <a:prstGeom prst="rect">
            <a:avLst/>
          </a:prstGeom>
          <a:solidFill>
            <a:srgbClr val="506B8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4663440" y="1490472"/>
            <a:ext cx="2926079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2. Verify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4663440" y="2020824"/>
            <a:ext cx="2926079" cy="24414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Run tests or artifact checks.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Debug iteratively rather than explaining away failures.</a:t>
            </a:r>
          </a:p>
        </p:txBody>
      </p:sp>
      <p:sp>
        <p:nvSpPr>
          <p:cNvPr id="15" name="Shape 15"/>
          <p:cNvSpPr/>
          <p:nvPr/>
        </p:nvSpPr>
        <p:spPr>
          <a:xfrm>
            <a:off x="8092440" y="1325880"/>
            <a:ext cx="333756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8092440" y="1325880"/>
            <a:ext cx="109728" cy="3246120"/>
          </a:xfrm>
          <a:prstGeom prst="rect">
            <a:avLst/>
          </a:prstGeom>
          <a:solidFill>
            <a:srgbClr val="C69214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8321040" y="1490472"/>
            <a:ext cx="2926079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3. Report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321040" y="2020824"/>
            <a:ext cx="2926079" cy="24414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Say what changed.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Name deviations from the plan.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Use external review for substantial work.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11292840" y="310896"/>
            <a:ext cx="201168" cy="201168"/>
          </a:xfrm>
          <a:prstGeom prst="roundRect">
            <a:avLst/>
          </a:prstGeom>
          <a:solidFill>
            <a:srgbClr val="135C5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530352" y="310896"/>
            <a:ext cx="8778240" cy="5623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2600" lang="en-US" b="1">
                <a:solidFill>
                  <a:srgbClr val="22252A"/>
                </a:solidFill>
                <a:latin typeface="Arial"/>
              </a:rPr>
              <a:t>Artifacts Skill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566928" y="969264"/>
            <a:ext cx="10908792" cy="0"/>
          </a:xfrm>
          <a:prstGeom prst="line">
            <a:avLst/>
          </a:prstGeom>
          <a:ln w="12700">
            <a:solidFill>
              <a:srgbClr val="D6D0C4"/>
            </a:solidFill>
          </a:ln>
        </p:spPr>
      </p:cxnSp>
      <p:sp>
        <p:nvSpPr>
          <p:cNvPr id="7" name="Shape 7"/>
          <p:cNvSpPr/>
          <p:nvPr/>
        </p:nvSpPr>
        <p:spPr>
          <a:xfrm>
            <a:off x="749808" y="1234440"/>
            <a:ext cx="38862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8" name="Shape 8"/>
          <p:cNvSpPr/>
          <p:nvPr/>
        </p:nvSpPr>
        <p:spPr>
          <a:xfrm>
            <a:off x="749808" y="1234440"/>
            <a:ext cx="109728" cy="3931920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978407" y="1399032"/>
            <a:ext cx="347472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Purpose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978407" y="1929384"/>
            <a:ext cx="3474720" cy="31272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Create, edit, polish, or inspect public-facing artifacts.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DOCX, PDF, PPTX, TikZ, figures, manuscript finalization.</a:t>
            </a:r>
          </a:p>
        </p:txBody>
      </p:sp>
      <p:sp>
        <p:nvSpPr>
          <p:cNvPr id="11" name="Shape 11"/>
          <p:cNvSpPr/>
          <p:nvPr/>
        </p:nvSpPr>
        <p:spPr>
          <a:xfrm>
            <a:off x="5047488" y="1234440"/>
            <a:ext cx="544068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5047488" y="1234440"/>
            <a:ext cx="109728" cy="3931920"/>
          </a:xfrm>
          <a:prstGeom prst="rect">
            <a:avLst/>
          </a:prstGeom>
          <a:solidFill>
            <a:srgbClr val="D85A4A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5276088" y="1399032"/>
            <a:ext cx="502920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Key advice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5276088" y="1929384"/>
            <a:ext cx="5029200" cy="31272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Artifacts should be non-path-dependent.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Do not refer to prompts, previous versions, or production history that readers cannot see.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Prioritize message, evidence, and purpose over decorative process notes.</a:t>
            </a:r>
          </a:p>
        </p:txBody>
      </p:sp>
      <p:sp>
        <p:nvSpPr>
          <p:cNvPr id="15" name="Shape 15"/>
          <p:cNvSpPr/>
          <p:nvPr/>
        </p:nvSpPr>
        <p:spPr>
          <a:xfrm>
            <a:off x="9308592" y="310896"/>
            <a:ext cx="2633472" cy="475488"/>
          </a:xfrm>
          <a:prstGeom prst="roundRect">
            <a:avLst/>
          </a:prstGeom>
          <a:solidFill>
            <a:srgbClr val="506B8B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xt 16"/>
          <p:cNvSpPr txBox="1"/>
          <p:nvPr/>
        </p:nvSpPr>
        <p:spPr>
          <a:xfrm>
            <a:off x="9363456" y="411480"/>
            <a:ext cx="2523744" cy="28803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c"/>
            <a:r>
              <a:rPr sz="1800" lang="en-US" b="1">
                <a:solidFill>
                  <a:srgbClr val="FFFFFF"/>
                </a:solidFill>
                <a:latin typeface="Arial"/>
              </a:rPr>
              <a:t>NOT MANUAL-ONLY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11292840" y="310896"/>
            <a:ext cx="201168" cy="201168"/>
          </a:xfrm>
          <a:prstGeom prst="roundRect">
            <a:avLst/>
          </a:prstGeom>
          <a:solidFill>
            <a:srgbClr val="135C5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530352" y="310896"/>
            <a:ext cx="8778240" cy="5623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2600" lang="en-US" b="1">
                <a:solidFill>
                  <a:srgbClr val="22252A"/>
                </a:solidFill>
                <a:latin typeface="Arial"/>
              </a:rPr>
              <a:t>Documentation Skill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566928" y="969264"/>
            <a:ext cx="10908792" cy="0"/>
          </a:xfrm>
          <a:prstGeom prst="line">
            <a:avLst/>
          </a:prstGeom>
          <a:ln w="12700">
            <a:solidFill>
              <a:srgbClr val="D6D0C4"/>
            </a:solidFill>
          </a:ln>
        </p:spPr>
      </p:cxnSp>
      <p:sp>
        <p:nvSpPr>
          <p:cNvPr id="7" name="Shape 7"/>
          <p:cNvSpPr/>
          <p:nvPr/>
        </p:nvSpPr>
        <p:spPr>
          <a:xfrm>
            <a:off x="749808" y="1234440"/>
            <a:ext cx="438912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8" name="Shape 8"/>
          <p:cNvSpPr/>
          <p:nvPr/>
        </p:nvSpPr>
        <p:spPr>
          <a:xfrm>
            <a:off x="749808" y="1234440"/>
            <a:ext cx="109728" cy="3749039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978407" y="1399032"/>
            <a:ext cx="3977639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Purpose</a:t>
            </a:r>
          </a:p>
        </p:txBody>
      </p:sp>
      <p:sp>
        <p:nvSpPr>
          <p:cNvPr id="10" name="Shape 10"/>
          <p:cNvSpPr/>
          <p:nvPr/>
        </p:nvSpPr>
        <p:spPr>
          <a:xfrm>
            <a:off x="2852928" y="1380744"/>
            <a:ext cx="2057400" cy="475488"/>
          </a:xfrm>
          <a:prstGeom prst="roundRect">
            <a:avLst/>
          </a:prstGeom>
          <a:solidFill>
            <a:srgbClr val="C6921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2907792" y="1481328"/>
            <a:ext cx="1947672" cy="28803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c"/>
            <a:r>
              <a:rPr sz="1800" lang="en-US" b="1">
                <a:solidFill>
                  <a:srgbClr val="FFFFFF"/>
                </a:solidFill>
                <a:latin typeface="Arial"/>
              </a:rPr>
              <a:t>MANUAL-ONLY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978407" y="1929384"/>
            <a:ext cx="3977639" cy="29443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Promote alignment and understanding.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Make module boundaries, surfaces, and relationships explicit.</a:t>
            </a:r>
          </a:p>
        </p:txBody>
      </p:sp>
      <p:sp>
        <p:nvSpPr>
          <p:cNvPr id="13" name="Shape 13"/>
          <p:cNvSpPr/>
          <p:nvPr/>
        </p:nvSpPr>
        <p:spPr>
          <a:xfrm>
            <a:off x="5669280" y="1234440"/>
            <a:ext cx="47548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5669280" y="1234440"/>
            <a:ext cx="109728" cy="3749039"/>
          </a:xfrm>
          <a:prstGeom prst="rect">
            <a:avLst/>
          </a:prstGeom>
          <a:solidFill>
            <a:srgbClr val="506B8B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Text 15"/>
          <p:cNvSpPr txBox="1"/>
          <p:nvPr/>
        </p:nvSpPr>
        <p:spPr>
          <a:xfrm>
            <a:off x="5897880" y="1399032"/>
            <a:ext cx="434340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Subskills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5897880" y="1929384"/>
            <a:ext cx="4343400" cy="29443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map-modules: high-level decomposition.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document-module: focused explanation.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maintain-project: notebook and project docs health.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11292840" y="310896"/>
            <a:ext cx="201168" cy="201168"/>
          </a:xfrm>
          <a:prstGeom prst="roundRect">
            <a:avLst/>
          </a:prstGeom>
          <a:solidFill>
            <a:srgbClr val="135C5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530352" y="310896"/>
            <a:ext cx="8778240" cy="5623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2600" lang="en-US" b="1">
                <a:solidFill>
                  <a:srgbClr val="22252A"/>
                </a:solidFill>
                <a:latin typeface="Arial"/>
              </a:rPr>
              <a:t>Systematize Skill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566928" y="969264"/>
            <a:ext cx="10908792" cy="0"/>
          </a:xfrm>
          <a:prstGeom prst="line">
            <a:avLst/>
          </a:prstGeom>
          <a:ln w="12700">
            <a:solidFill>
              <a:srgbClr val="D6D0C4"/>
            </a:solidFill>
          </a:ln>
        </p:spPr>
      </p:cxnSp>
      <p:sp>
        <p:nvSpPr>
          <p:cNvPr id="7" name="Shape 7"/>
          <p:cNvSpPr/>
          <p:nvPr/>
        </p:nvSpPr>
        <p:spPr>
          <a:xfrm>
            <a:off x="749808" y="1234440"/>
            <a:ext cx="457200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8" name="Shape 8"/>
          <p:cNvSpPr/>
          <p:nvPr/>
        </p:nvSpPr>
        <p:spPr>
          <a:xfrm>
            <a:off x="749808" y="1234440"/>
            <a:ext cx="109728" cy="3840480"/>
          </a:xfrm>
          <a:prstGeom prst="rect">
            <a:avLst/>
          </a:prstGeom>
          <a:solidFill>
            <a:srgbClr val="C69214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978407" y="1399032"/>
            <a:ext cx="416052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Purpose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978407" y="1929384"/>
            <a:ext cx="4160520" cy="303580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Find out what works for you, then keep doing it.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Turn lessons into reusable instructions, skills, and support workflows.</a:t>
            </a:r>
          </a:p>
        </p:txBody>
      </p:sp>
      <p:sp>
        <p:nvSpPr>
          <p:cNvPr id="11" name="Shape 11"/>
          <p:cNvSpPr/>
          <p:nvPr/>
        </p:nvSpPr>
        <p:spPr>
          <a:xfrm>
            <a:off x="5806440" y="1234440"/>
            <a:ext cx="457200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5806440" y="1234440"/>
            <a:ext cx="109728" cy="3840480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6035040" y="1399032"/>
            <a:ext cx="416052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Subskills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035040" y="1929384"/>
            <a:ext cx="4160520" cy="303580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skill-creator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postmortem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agents-md / CLAUDE.md guidance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support</a:t>
            </a:r>
          </a:p>
        </p:txBody>
      </p:sp>
      <p:sp>
        <p:nvSpPr>
          <p:cNvPr id="15" name="Shape 15"/>
          <p:cNvSpPr/>
          <p:nvPr/>
        </p:nvSpPr>
        <p:spPr>
          <a:xfrm>
            <a:off x="9308592" y="310896"/>
            <a:ext cx="2633472" cy="475488"/>
          </a:xfrm>
          <a:prstGeom prst="roundRect">
            <a:avLst/>
          </a:prstGeom>
          <a:solidFill>
            <a:srgbClr val="506B8B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xt 16"/>
          <p:cNvSpPr txBox="1"/>
          <p:nvPr/>
        </p:nvSpPr>
        <p:spPr>
          <a:xfrm>
            <a:off x="9363456" y="411480"/>
            <a:ext cx="2523744" cy="28803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c"/>
            <a:r>
              <a:rPr sz="1800" lang="en-US" b="1">
                <a:solidFill>
                  <a:srgbClr val="FFFFFF"/>
                </a:solidFill>
                <a:latin typeface="Arial"/>
              </a:rPr>
              <a:t>NOT MANUAL-ONLY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11292840" y="310896"/>
            <a:ext cx="201168" cy="201168"/>
          </a:xfrm>
          <a:prstGeom prst="roundRect">
            <a:avLst/>
          </a:prstGeom>
          <a:solidFill>
            <a:srgbClr val="135C5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530352" y="310896"/>
            <a:ext cx="8778240" cy="5623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2600" lang="en-US" b="1">
                <a:solidFill>
                  <a:srgbClr val="22252A"/>
                </a:solidFill>
                <a:latin typeface="Arial"/>
              </a:rPr>
              <a:t>Notebook And Continuity Skills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566928" y="969264"/>
            <a:ext cx="10908792" cy="0"/>
          </a:xfrm>
          <a:prstGeom prst="line">
            <a:avLst/>
          </a:prstGeom>
          <a:ln w="12700">
            <a:solidFill>
              <a:srgbClr val="D6D0C4"/>
            </a:solidFill>
          </a:ln>
        </p:spPr>
      </p:cxnSp>
      <p:sp>
        <p:nvSpPr>
          <p:cNvPr id="7" name="Shape 7"/>
          <p:cNvSpPr/>
          <p:nvPr/>
        </p:nvSpPr>
        <p:spPr>
          <a:xfrm>
            <a:off x="731520" y="1234440"/>
            <a:ext cx="342900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8" name="Shape 8"/>
          <p:cNvSpPr/>
          <p:nvPr/>
        </p:nvSpPr>
        <p:spPr>
          <a:xfrm>
            <a:off x="731520" y="1234440"/>
            <a:ext cx="109728" cy="3611880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960120" y="1399032"/>
            <a:ext cx="301752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notebook-entry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960120" y="1929384"/>
            <a:ext cx="3017520" cy="280720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Durable records of substantive work.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Often invoked by a subagent.</a:t>
            </a:r>
          </a:p>
        </p:txBody>
      </p:sp>
      <p:sp>
        <p:nvSpPr>
          <p:cNvPr id="11" name="Shape 11"/>
          <p:cNvSpPr/>
          <p:nvPr/>
        </p:nvSpPr>
        <p:spPr>
          <a:xfrm>
            <a:off x="4407408" y="1234440"/>
            <a:ext cx="342900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4407408" y="1234440"/>
            <a:ext cx="109728" cy="3611880"/>
          </a:xfrm>
          <a:prstGeom prst="rect">
            <a:avLst/>
          </a:prstGeom>
          <a:solidFill>
            <a:srgbClr val="506B8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4636008" y="1399032"/>
            <a:ext cx="301752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defer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4636008" y="1929384"/>
            <a:ext cx="3017520" cy="280720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Manual-only trigger.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Park future work without derailing the current task.</a:t>
            </a:r>
          </a:p>
        </p:txBody>
      </p:sp>
      <p:sp>
        <p:nvSpPr>
          <p:cNvPr id="15" name="Shape 15"/>
          <p:cNvSpPr/>
          <p:nvPr/>
        </p:nvSpPr>
        <p:spPr>
          <a:xfrm>
            <a:off x="8083296" y="1234440"/>
            <a:ext cx="342900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8083296" y="1234440"/>
            <a:ext cx="109728" cy="3611880"/>
          </a:xfrm>
          <a:prstGeom prst="rect">
            <a:avLst/>
          </a:prstGeom>
          <a:solidFill>
            <a:srgbClr val="C69214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8311896" y="1399032"/>
            <a:ext cx="301752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remind-resume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311896" y="1929384"/>
            <a:ext cx="3017520" cy="280720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Manual-only trigger.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Recover context after a break.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Summarize recent work, git state, and next steps.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11292840" y="310896"/>
            <a:ext cx="201168" cy="201168"/>
          </a:xfrm>
          <a:prstGeom prst="roundRect">
            <a:avLst/>
          </a:prstGeom>
          <a:solidFill>
            <a:srgbClr val="135C5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530352" y="310896"/>
            <a:ext cx="8778240" cy="5623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2600" lang="en-US" b="1">
                <a:solidFill>
                  <a:srgbClr val="22252A"/>
                </a:solidFill>
                <a:latin typeface="Arial"/>
              </a:rPr>
              <a:t>Global Skills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566928" y="969264"/>
            <a:ext cx="10908792" cy="0"/>
          </a:xfrm>
          <a:prstGeom prst="line">
            <a:avLst/>
          </a:prstGeom>
          <a:ln w="12700">
            <a:solidFill>
              <a:srgbClr val="D6D0C4"/>
            </a:solidFill>
          </a:ln>
        </p:spPr>
      </p:cxnSp>
      <p:sp>
        <p:nvSpPr>
          <p:cNvPr id="7" name="Text 7"/>
          <p:cNvSpPr txBox="1"/>
          <p:nvPr/>
        </p:nvSpPr>
        <p:spPr>
          <a:xfrm>
            <a:off x="822960" y="1234440"/>
            <a:ext cx="9875520" cy="45034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900" lang="en-US" b="1">
                <a:solidFill>
                  <a:srgbClr val="22252A"/>
                </a:solidFill>
                <a:latin typeface="Arial"/>
              </a:rPr>
              <a:t>Global means useful across most projects, independent of one dataset or compute environment.</a:t>
            </a:r>
          </a:p>
        </p:txBody>
      </p:sp>
      <p:sp>
        <p:nvSpPr>
          <p:cNvPr id="8" name="Shape 8"/>
          <p:cNvSpPr/>
          <p:nvPr/>
        </p:nvSpPr>
        <p:spPr>
          <a:xfrm>
            <a:off x="868680" y="1965960"/>
            <a:ext cx="51663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1051560" y="2130552"/>
            <a:ext cx="2240280" cy="28803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artifacts</a:t>
            </a:r>
          </a:p>
        </p:txBody>
      </p:sp>
      <p:sp>
        <p:nvSpPr>
          <p:cNvPr id="10" name="Shape 10"/>
          <p:cNvSpPr/>
          <p:nvPr/>
        </p:nvSpPr>
        <p:spPr>
          <a:xfrm>
            <a:off x="3337560" y="2039112"/>
            <a:ext cx="2560320" cy="475488"/>
          </a:xfrm>
          <a:prstGeom prst="roundRect">
            <a:avLst/>
          </a:prstGeom>
          <a:solidFill>
            <a:srgbClr val="506B8B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3392424" y="2139696"/>
            <a:ext cx="2450591" cy="28803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c"/>
            <a:r>
              <a:rPr sz="1800" lang="en-US" b="1">
                <a:solidFill>
                  <a:srgbClr val="FFFFFF"/>
                </a:solidFill>
                <a:latin typeface="Arial"/>
              </a:rPr>
              <a:t>NOT MANUAL-ONLY</a:t>
            </a:r>
          </a:p>
        </p:txBody>
      </p:sp>
      <p:sp>
        <p:nvSpPr>
          <p:cNvPr id="12" name="Shape 12"/>
          <p:cNvSpPr/>
          <p:nvPr/>
        </p:nvSpPr>
        <p:spPr>
          <a:xfrm>
            <a:off x="6355080" y="1965960"/>
            <a:ext cx="51663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6537960" y="2130552"/>
            <a:ext cx="2240280" cy="28803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documentation</a:t>
            </a:r>
          </a:p>
        </p:txBody>
      </p:sp>
      <p:sp>
        <p:nvSpPr>
          <p:cNvPr id="14" name="Shape 14"/>
          <p:cNvSpPr/>
          <p:nvPr/>
        </p:nvSpPr>
        <p:spPr>
          <a:xfrm>
            <a:off x="8823960" y="2039112"/>
            <a:ext cx="2057400" cy="475488"/>
          </a:xfrm>
          <a:prstGeom prst="roundRect">
            <a:avLst/>
          </a:prstGeom>
          <a:solidFill>
            <a:srgbClr val="C69214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Text 15"/>
          <p:cNvSpPr txBox="1"/>
          <p:nvPr/>
        </p:nvSpPr>
        <p:spPr>
          <a:xfrm>
            <a:off x="8878824" y="2139696"/>
            <a:ext cx="1947672" cy="28803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c"/>
            <a:r>
              <a:rPr sz="1800" lang="en-US" b="1">
                <a:solidFill>
                  <a:srgbClr val="FFFFFF"/>
                </a:solidFill>
                <a:latin typeface="Arial"/>
              </a:rPr>
              <a:t>MANUAL-ONLY</a:t>
            </a:r>
          </a:p>
        </p:txBody>
      </p:sp>
      <p:sp>
        <p:nvSpPr>
          <p:cNvPr id="16" name="Shape 16"/>
          <p:cNvSpPr/>
          <p:nvPr/>
        </p:nvSpPr>
        <p:spPr>
          <a:xfrm>
            <a:off x="868680" y="2807208"/>
            <a:ext cx="51663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1051560" y="2971800"/>
            <a:ext cx="2240280" cy="28803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init-project</a:t>
            </a:r>
          </a:p>
        </p:txBody>
      </p:sp>
      <p:sp>
        <p:nvSpPr>
          <p:cNvPr id="18" name="Shape 18"/>
          <p:cNvSpPr/>
          <p:nvPr/>
        </p:nvSpPr>
        <p:spPr>
          <a:xfrm>
            <a:off x="3337560" y="2880360"/>
            <a:ext cx="2057400" cy="475488"/>
          </a:xfrm>
          <a:prstGeom prst="roundRect">
            <a:avLst/>
          </a:prstGeom>
          <a:solidFill>
            <a:srgbClr val="C69214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 19"/>
          <p:cNvSpPr txBox="1"/>
          <p:nvPr/>
        </p:nvSpPr>
        <p:spPr>
          <a:xfrm>
            <a:off x="3392424" y="2980944"/>
            <a:ext cx="1947672" cy="28803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c"/>
            <a:r>
              <a:rPr sz="1800" lang="en-US" b="1">
                <a:solidFill>
                  <a:srgbClr val="FFFFFF"/>
                </a:solidFill>
                <a:latin typeface="Arial"/>
              </a:rPr>
              <a:t>MANUAL-ONLY</a:t>
            </a:r>
          </a:p>
        </p:txBody>
      </p:sp>
      <p:sp>
        <p:nvSpPr>
          <p:cNvPr id="20" name="Shape 20"/>
          <p:cNvSpPr/>
          <p:nvPr/>
        </p:nvSpPr>
        <p:spPr>
          <a:xfrm>
            <a:off x="6355080" y="2807208"/>
            <a:ext cx="51663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21" name="Text 21"/>
          <p:cNvSpPr txBox="1"/>
          <p:nvPr/>
        </p:nvSpPr>
        <p:spPr>
          <a:xfrm>
            <a:off x="6537960" y="2971800"/>
            <a:ext cx="2240280" cy="28803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notebook-entry</a:t>
            </a:r>
          </a:p>
        </p:txBody>
      </p:sp>
      <p:sp>
        <p:nvSpPr>
          <p:cNvPr id="22" name="Shape 22"/>
          <p:cNvSpPr/>
          <p:nvPr/>
        </p:nvSpPr>
        <p:spPr>
          <a:xfrm>
            <a:off x="8823960" y="2880360"/>
            <a:ext cx="2560320" cy="475488"/>
          </a:xfrm>
          <a:prstGeom prst="roundRect">
            <a:avLst/>
          </a:prstGeom>
          <a:solidFill>
            <a:srgbClr val="506B8B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ext 23"/>
          <p:cNvSpPr txBox="1"/>
          <p:nvPr/>
        </p:nvSpPr>
        <p:spPr>
          <a:xfrm>
            <a:off x="8878824" y="2980944"/>
            <a:ext cx="2450591" cy="28803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c"/>
            <a:r>
              <a:rPr sz="1800" lang="en-US" b="1">
                <a:solidFill>
                  <a:srgbClr val="FFFFFF"/>
                </a:solidFill>
                <a:latin typeface="Arial"/>
              </a:rPr>
              <a:t>NOT MANUAL-ONLY</a:t>
            </a:r>
          </a:p>
        </p:txBody>
      </p:sp>
      <p:sp>
        <p:nvSpPr>
          <p:cNvPr id="24" name="Shape 24"/>
          <p:cNvSpPr/>
          <p:nvPr/>
        </p:nvSpPr>
        <p:spPr>
          <a:xfrm>
            <a:off x="868680" y="3648456"/>
            <a:ext cx="51663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25" name="Text 25"/>
          <p:cNvSpPr txBox="1"/>
          <p:nvPr/>
        </p:nvSpPr>
        <p:spPr>
          <a:xfrm>
            <a:off x="1051560" y="3813048"/>
            <a:ext cx="2240280" cy="28803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remind-resume</a:t>
            </a:r>
          </a:p>
        </p:txBody>
      </p:sp>
      <p:sp>
        <p:nvSpPr>
          <p:cNvPr id="26" name="Shape 26"/>
          <p:cNvSpPr/>
          <p:nvPr/>
        </p:nvSpPr>
        <p:spPr>
          <a:xfrm>
            <a:off x="3337560" y="3721608"/>
            <a:ext cx="2057400" cy="475488"/>
          </a:xfrm>
          <a:prstGeom prst="roundRect">
            <a:avLst/>
          </a:prstGeom>
          <a:solidFill>
            <a:srgbClr val="C69214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3392424" y="3822192"/>
            <a:ext cx="1947672" cy="28803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c"/>
            <a:r>
              <a:rPr sz="1800" lang="en-US" b="1">
                <a:solidFill>
                  <a:srgbClr val="FFFFFF"/>
                </a:solidFill>
                <a:latin typeface="Arial"/>
              </a:rPr>
              <a:t>MANUAL-ONLY</a:t>
            </a:r>
          </a:p>
        </p:txBody>
      </p:sp>
      <p:sp>
        <p:nvSpPr>
          <p:cNvPr id="28" name="Shape 28"/>
          <p:cNvSpPr/>
          <p:nvPr/>
        </p:nvSpPr>
        <p:spPr>
          <a:xfrm>
            <a:off x="6355080" y="3648456"/>
            <a:ext cx="51663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29" name="Text 29"/>
          <p:cNvSpPr txBox="1"/>
          <p:nvPr/>
        </p:nvSpPr>
        <p:spPr>
          <a:xfrm>
            <a:off x="6537960" y="3813048"/>
            <a:ext cx="2240280" cy="28803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work-cycle</a:t>
            </a:r>
          </a:p>
        </p:txBody>
      </p:sp>
      <p:sp>
        <p:nvSpPr>
          <p:cNvPr id="30" name="Shape 30"/>
          <p:cNvSpPr/>
          <p:nvPr/>
        </p:nvSpPr>
        <p:spPr>
          <a:xfrm>
            <a:off x="8823960" y="3721608"/>
            <a:ext cx="2057400" cy="475488"/>
          </a:xfrm>
          <a:prstGeom prst="roundRect">
            <a:avLst/>
          </a:prstGeom>
          <a:solidFill>
            <a:srgbClr val="C69214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Text 31"/>
          <p:cNvSpPr txBox="1"/>
          <p:nvPr/>
        </p:nvSpPr>
        <p:spPr>
          <a:xfrm>
            <a:off x="8878824" y="3822192"/>
            <a:ext cx="1947672" cy="28803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c"/>
            <a:r>
              <a:rPr sz="1800" lang="en-US" b="1">
                <a:solidFill>
                  <a:srgbClr val="FFFFFF"/>
                </a:solidFill>
                <a:latin typeface="Arial"/>
              </a:rPr>
              <a:t>MANUAL-ONLY</a:t>
            </a:r>
          </a:p>
        </p:txBody>
      </p:sp>
      <p:sp>
        <p:nvSpPr>
          <p:cNvPr id="32" name="Shape 32"/>
          <p:cNvSpPr/>
          <p:nvPr/>
        </p:nvSpPr>
        <p:spPr>
          <a:xfrm>
            <a:off x="868680" y="4489704"/>
            <a:ext cx="51663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33" name="Text 33"/>
          <p:cNvSpPr txBox="1"/>
          <p:nvPr/>
        </p:nvSpPr>
        <p:spPr>
          <a:xfrm>
            <a:off x="1051560" y="4654296"/>
            <a:ext cx="2240280" cy="28803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systematize</a:t>
            </a:r>
          </a:p>
        </p:txBody>
      </p:sp>
      <p:sp>
        <p:nvSpPr>
          <p:cNvPr id="34" name="Shape 34"/>
          <p:cNvSpPr/>
          <p:nvPr/>
        </p:nvSpPr>
        <p:spPr>
          <a:xfrm>
            <a:off x="3337560" y="4562856"/>
            <a:ext cx="2560320" cy="475488"/>
          </a:xfrm>
          <a:prstGeom prst="roundRect">
            <a:avLst/>
          </a:prstGeom>
          <a:solidFill>
            <a:srgbClr val="506B8B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Text 35"/>
          <p:cNvSpPr txBox="1"/>
          <p:nvPr/>
        </p:nvSpPr>
        <p:spPr>
          <a:xfrm>
            <a:off x="3392424" y="4663440"/>
            <a:ext cx="2450591" cy="28803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c"/>
            <a:r>
              <a:rPr sz="1800" lang="en-US" b="1">
                <a:solidFill>
                  <a:srgbClr val="FFFFFF"/>
                </a:solidFill>
                <a:latin typeface="Arial"/>
              </a:rPr>
              <a:t>NOT MANUAL-ONLY</a:t>
            </a:r>
          </a:p>
        </p:txBody>
      </p:sp>
      <p:sp>
        <p:nvSpPr>
          <p:cNvPr id="36" name="Shape 36"/>
          <p:cNvSpPr/>
          <p:nvPr/>
        </p:nvSpPr>
        <p:spPr>
          <a:xfrm>
            <a:off x="6355080" y="4489704"/>
            <a:ext cx="51663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37" name="Text 37"/>
          <p:cNvSpPr txBox="1"/>
          <p:nvPr/>
        </p:nvSpPr>
        <p:spPr>
          <a:xfrm>
            <a:off x="6537960" y="4654296"/>
            <a:ext cx="2240280" cy="28803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defer</a:t>
            </a:r>
          </a:p>
        </p:txBody>
      </p:sp>
      <p:sp>
        <p:nvSpPr>
          <p:cNvPr id="38" name="Shape 38"/>
          <p:cNvSpPr/>
          <p:nvPr/>
        </p:nvSpPr>
        <p:spPr>
          <a:xfrm>
            <a:off x="8823960" y="4562856"/>
            <a:ext cx="2057400" cy="475488"/>
          </a:xfrm>
          <a:prstGeom prst="roundRect">
            <a:avLst/>
          </a:prstGeom>
          <a:solidFill>
            <a:srgbClr val="C69214"/>
          </a:solidFill>
          <a:ln>
            <a:noFill/>
          </a:ln>
        </p:spPr>
        <p:txBody>
          <a:bodyPr/>
          <a:lstStyle/>
          <a:p/>
        </p:txBody>
      </p:sp>
      <p:sp>
        <p:nvSpPr>
          <p:cNvPr id="39" name="Text 39"/>
          <p:cNvSpPr txBox="1"/>
          <p:nvPr/>
        </p:nvSpPr>
        <p:spPr>
          <a:xfrm>
            <a:off x="8878824" y="4663440"/>
            <a:ext cx="1947672" cy="28803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c"/>
            <a:r>
              <a:rPr sz="1800" lang="en-US" b="1">
                <a:solidFill>
                  <a:srgbClr val="FFFFFF"/>
                </a:solidFill>
                <a:latin typeface="Arial"/>
              </a:rPr>
              <a:t>MANUAL-ONLY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11292840" y="310896"/>
            <a:ext cx="201168" cy="201168"/>
          </a:xfrm>
          <a:prstGeom prst="roundRect">
            <a:avLst/>
          </a:prstGeom>
          <a:solidFill>
            <a:srgbClr val="135C5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530352" y="310896"/>
            <a:ext cx="8778240" cy="5623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2600" lang="en-US" b="1">
                <a:solidFill>
                  <a:srgbClr val="22252A"/>
                </a:solidFill>
                <a:latin typeface="Arial"/>
              </a:rPr>
              <a:t>Local / Project Skills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566928" y="969264"/>
            <a:ext cx="10908792" cy="0"/>
          </a:xfrm>
          <a:prstGeom prst="line">
            <a:avLst/>
          </a:prstGeom>
          <a:ln w="12700">
            <a:solidFill>
              <a:srgbClr val="D6D0C4"/>
            </a:solidFill>
          </a:ln>
        </p:spPr>
      </p:cxnSp>
      <p:sp>
        <p:nvSpPr>
          <p:cNvPr id="7" name="Text 7"/>
          <p:cNvSpPr txBox="1"/>
          <p:nvPr/>
        </p:nvSpPr>
        <p:spPr>
          <a:xfrm>
            <a:off x="822960" y="1234440"/>
            <a:ext cx="9875520" cy="45034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900" lang="en-US" b="1">
                <a:solidFill>
                  <a:srgbClr val="22252A"/>
                </a:solidFill>
                <a:latin typeface="Arial"/>
              </a:rPr>
              <a:t>Local means tied to project infrastructure, data location, or domain-specific work.</a:t>
            </a:r>
          </a:p>
        </p:txBody>
      </p:sp>
      <p:sp>
        <p:nvSpPr>
          <p:cNvPr id="8" name="Shape 8"/>
          <p:cNvSpPr/>
          <p:nvPr/>
        </p:nvSpPr>
        <p:spPr>
          <a:xfrm>
            <a:off x="822960" y="1965960"/>
            <a:ext cx="32461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9" name="Shape 9"/>
          <p:cNvSpPr/>
          <p:nvPr/>
        </p:nvSpPr>
        <p:spPr>
          <a:xfrm>
            <a:off x="822960" y="1965960"/>
            <a:ext cx="109728" cy="2194560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ext 10"/>
          <p:cNvSpPr txBox="1"/>
          <p:nvPr/>
        </p:nvSpPr>
        <p:spPr>
          <a:xfrm>
            <a:off x="1051560" y="2130552"/>
            <a:ext cx="2834639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use-o2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1051560" y="2660904"/>
            <a:ext cx="2834639" cy="138988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Operate the remote bridge and SLURM after setup.</a:t>
            </a:r>
          </a:p>
        </p:txBody>
      </p:sp>
      <p:sp>
        <p:nvSpPr>
          <p:cNvPr id="12" name="Shape 12"/>
          <p:cNvSpPr/>
          <p:nvPr/>
        </p:nvSpPr>
        <p:spPr>
          <a:xfrm>
            <a:off x="4480560" y="1965960"/>
            <a:ext cx="32461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13" name="Shape 13"/>
          <p:cNvSpPr/>
          <p:nvPr/>
        </p:nvSpPr>
        <p:spPr>
          <a:xfrm>
            <a:off x="4480560" y="1965960"/>
            <a:ext cx="109728" cy="2194560"/>
          </a:xfrm>
          <a:prstGeom prst="rect">
            <a:avLst/>
          </a:prstGeom>
          <a:solidFill>
            <a:srgbClr val="506B8B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Text 14"/>
          <p:cNvSpPr txBox="1"/>
          <p:nvPr/>
        </p:nvSpPr>
        <p:spPr>
          <a:xfrm>
            <a:off x="4709160" y="2130552"/>
            <a:ext cx="2834639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dx-jobs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4709160" y="2660904"/>
            <a:ext cx="2834639" cy="138988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Inspect, monitor, and resubmit DNAnexus jobs.</a:t>
            </a:r>
          </a:p>
        </p:txBody>
      </p:sp>
      <p:sp>
        <p:nvSpPr>
          <p:cNvPr id="16" name="Shape 16"/>
          <p:cNvSpPr/>
          <p:nvPr/>
        </p:nvSpPr>
        <p:spPr>
          <a:xfrm>
            <a:off x="8138160" y="1965960"/>
            <a:ext cx="32461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8138160" y="1965960"/>
            <a:ext cx="109728" cy="2194560"/>
          </a:xfrm>
          <a:prstGeom prst="rect">
            <a:avLst/>
          </a:prstGeom>
          <a:solidFill>
            <a:srgbClr val="C69214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Text 18"/>
          <p:cNvSpPr txBox="1"/>
          <p:nvPr/>
        </p:nvSpPr>
        <p:spPr>
          <a:xfrm>
            <a:off x="8366760" y="2130552"/>
            <a:ext cx="2834639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run-graphld-o2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366760" y="2660904"/>
            <a:ext cx="2834639" cy="138988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Specific GraphLD graphREML workflow on O2.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11292840" y="310896"/>
            <a:ext cx="201168" cy="201168"/>
          </a:xfrm>
          <a:prstGeom prst="roundRect">
            <a:avLst/>
          </a:prstGeom>
          <a:solidFill>
            <a:srgbClr val="135C5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530352" y="310896"/>
            <a:ext cx="8778240" cy="5623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2600" lang="en-US" b="1">
                <a:solidFill>
                  <a:srgbClr val="22252A"/>
                </a:solidFill>
                <a:latin typeface="Arial"/>
              </a:rPr>
              <a:t>What People Have Liked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566928" y="969264"/>
            <a:ext cx="10908792" cy="0"/>
          </a:xfrm>
          <a:prstGeom prst="line">
            <a:avLst/>
          </a:prstGeom>
          <a:ln w="12700">
            <a:solidFill>
              <a:srgbClr val="D6D0C4"/>
            </a:solidFill>
          </a:ln>
        </p:spPr>
      </p:cxnSp>
      <p:sp>
        <p:nvSpPr>
          <p:cNvPr id="7" name="Shape 7"/>
          <p:cNvSpPr/>
          <p:nvPr/>
        </p:nvSpPr>
        <p:spPr>
          <a:xfrm>
            <a:off x="731520" y="1170432"/>
            <a:ext cx="33832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8" name="Shape 8"/>
          <p:cNvSpPr/>
          <p:nvPr/>
        </p:nvSpPr>
        <p:spPr>
          <a:xfrm>
            <a:off x="731520" y="1170432"/>
            <a:ext cx="109728" cy="3840480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960120" y="1335024"/>
            <a:ext cx="297180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Reviewable work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960120" y="1865376"/>
            <a:ext cx="2971800" cy="303580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GitHub issues and the gh CLI.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Concrete tasks, links, and PRs.</a:t>
            </a:r>
          </a:p>
        </p:txBody>
      </p:sp>
      <p:sp>
        <p:nvSpPr>
          <p:cNvPr id="11" name="Shape 11"/>
          <p:cNvSpPr/>
          <p:nvPr/>
        </p:nvSpPr>
        <p:spPr>
          <a:xfrm>
            <a:off x="4407408" y="1170432"/>
            <a:ext cx="33832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4407408" y="1170432"/>
            <a:ext cx="109728" cy="3840480"/>
          </a:xfrm>
          <a:prstGeom prst="rect">
            <a:avLst/>
          </a:prstGeom>
          <a:solidFill>
            <a:srgbClr val="506B8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4636008" y="1335024"/>
            <a:ext cx="297180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Kangcheng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4636008" y="1865376"/>
            <a:ext cx="2971800" cy="303580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/grill-me skill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/code-writeup skill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Both make understanding more explicit.</a:t>
            </a:r>
          </a:p>
        </p:txBody>
      </p:sp>
      <p:sp>
        <p:nvSpPr>
          <p:cNvPr id="15" name="Shape 15"/>
          <p:cNvSpPr/>
          <p:nvPr/>
        </p:nvSpPr>
        <p:spPr>
          <a:xfrm>
            <a:off x="8083296" y="1170432"/>
            <a:ext cx="33832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8083296" y="1170432"/>
            <a:ext cx="109728" cy="3840480"/>
          </a:xfrm>
          <a:prstGeom prst="rect">
            <a:avLst/>
          </a:prstGeom>
          <a:solidFill>
            <a:srgbClr val="C69214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8311896" y="1335024"/>
            <a:ext cx="297180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Other examples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311896" y="1865376"/>
            <a:ext cx="2971800" cy="303580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Amber: Marimo.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Pouria: T3 code.</a:t>
            </a:r>
          </a:p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The best ideas come from real use.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11292840" y="310896"/>
            <a:ext cx="201168" cy="201168"/>
          </a:xfrm>
          <a:prstGeom prst="roundRect">
            <a:avLst/>
          </a:prstGeom>
          <a:solidFill>
            <a:srgbClr val="135C5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530352" y="310896"/>
            <a:ext cx="8778240" cy="5623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2600" lang="en-US" b="1">
                <a:solidFill>
                  <a:srgbClr val="22252A"/>
                </a:solidFill>
                <a:latin typeface="Arial"/>
              </a:rPr>
              <a:t>Please Contribute Back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566928" y="969264"/>
            <a:ext cx="10908792" cy="0"/>
          </a:xfrm>
          <a:prstGeom prst="line">
            <a:avLst/>
          </a:prstGeom>
          <a:ln w="12700">
            <a:solidFill>
              <a:srgbClr val="D6D0C4"/>
            </a:solidFill>
          </a:ln>
        </p:spPr>
      </p:cxnSp>
      <p:sp>
        <p:nvSpPr>
          <p:cNvPr id="7" name="Shape 7"/>
          <p:cNvSpPr/>
          <p:nvPr/>
        </p:nvSpPr>
        <p:spPr>
          <a:xfrm>
            <a:off x="868680" y="1325880"/>
            <a:ext cx="4709160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8" name="Shape 8"/>
          <p:cNvSpPr/>
          <p:nvPr/>
        </p:nvSpPr>
        <p:spPr>
          <a:xfrm>
            <a:off x="868680" y="1325880"/>
            <a:ext cx="109728" cy="3520440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1097280" y="1490472"/>
            <a:ext cx="429768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GitHub issues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97280" y="2020824"/>
            <a:ext cx="4297680" cy="27157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Use issues for suggestions, workflow pain, missing docs, or examples of things that worked.</a:t>
            </a:r>
          </a:p>
        </p:txBody>
      </p:sp>
      <p:sp>
        <p:nvSpPr>
          <p:cNvPr id="11" name="Shape 11"/>
          <p:cNvSpPr/>
          <p:nvPr/>
        </p:nvSpPr>
        <p:spPr>
          <a:xfrm>
            <a:off x="6400800" y="1325880"/>
            <a:ext cx="4709160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4"/>
            </a:solidFill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6400800" y="1325880"/>
            <a:ext cx="109728" cy="3520440"/>
          </a:xfrm>
          <a:prstGeom prst="rect">
            <a:avLst/>
          </a:prstGeom>
          <a:solidFill>
            <a:srgbClr val="506B8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6629400" y="1490472"/>
            <a:ext cx="429768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1800" lang="en-US" b="1">
                <a:solidFill>
                  <a:srgbClr val="22252A"/>
                </a:solidFill>
                <a:latin typeface="Arial"/>
              </a:rPr>
              <a:t>Pull requests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629400" y="2020824"/>
            <a:ext cx="4297680" cy="27157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>
              <a:lnSpc>
                <a:spcPct val="105000"/>
              </a:lnSpc>
            </a:pPr>
            <a:r>
              <a:rPr sz="1800" lang="en-US">
                <a:solidFill>
                  <a:srgbClr val="5D646B"/>
                </a:solidFill>
                <a:latin typeface="Arial"/>
              </a:rPr>
              <a:t>Small PRs are welcome: skill edits, new skills, examples, docs, and setup improvements.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960120" y="5504688"/>
            <a:ext cx="10149840" cy="4343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c"/>
            <a:r>
              <a:rPr sz="1800" lang="en-US" b="1">
                <a:solidFill>
                  <a:srgbClr val="22252A"/>
                </a:solidFill>
                <a:latin typeface="Arial"/>
              </a:rPr>
              <a:t>Best contribution: something concrete that helped you do real work.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11292840" y="310896"/>
            <a:ext cx="201168" cy="201168"/>
          </a:xfrm>
          <a:prstGeom prst="roundRect">
            <a:avLst/>
          </a:prstGeom>
          <a:solidFill>
            <a:srgbClr val="135C5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7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530352" y="310896"/>
            <a:ext cx="8778240" cy="5623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l"/>
            <a:r>
              <a:rPr sz="2600" lang="en-US" b="1">
                <a:solidFill>
                  <a:srgbClr val="22252A"/>
                </a:solidFill>
                <a:latin typeface="Arial"/>
              </a:rPr>
              <a:t>Closing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566928" y="969264"/>
            <a:ext cx="10908792" cy="0"/>
          </a:xfrm>
          <a:prstGeom prst="line">
            <a:avLst/>
          </a:prstGeom>
          <a:ln w="12700">
            <a:solidFill>
              <a:srgbClr val="D6D0C4"/>
            </a:solidFill>
          </a:ln>
        </p:spPr>
      </p:cxnSp>
      <p:sp>
        <p:nvSpPr>
          <p:cNvPr id="7" name="Text 7"/>
          <p:cNvSpPr txBox="1"/>
          <p:nvPr/>
        </p:nvSpPr>
        <p:spPr>
          <a:xfrm>
            <a:off x="868680" y="1325880"/>
            <a:ext cx="10241280" cy="11887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c"/>
            <a:r>
              <a:rPr sz="3600" lang="en-US" b="1">
                <a:solidFill>
                  <a:srgbClr val="22252A"/>
                </a:solidFill>
                <a:latin typeface="Arial"/>
              </a:rPr>
              <a:t>The point is not to let AI do research unsupervised.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170432" y="2880360"/>
            <a:ext cx="960120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/>
          <a:lstStyle/>
          <a:p>
            <a:pPr algn="c"/>
            <a:r>
              <a:rPr sz="2900" lang="en-US" b="1">
                <a:solidFill>
                  <a:srgbClr val="135C5B"/>
                </a:solidFill>
                <a:latin typeface="Arial"/>
              </a:rPr>
              <a:t>The point is to make AI-assisted work more understandable, systematic, and shareable.</a:t>
            </a:r>
          </a:p>
        </p:txBody>
      </p:sp>
      <p:sp>
        <p:nvSpPr>
          <p:cNvPr id="9" name="Shape 9"/>
          <p:cNvSpPr/>
          <p:nvPr/>
        </p:nvSpPr>
        <p:spPr>
          <a:xfrm>
            <a:off x="2926080" y="4892040"/>
            <a:ext cx="6309360" cy="109728"/>
          </a:xfrm>
          <a:prstGeom prst="rect">
            <a:avLst/>
          </a:prstGeom>
          <a:solidFill>
            <a:srgbClr val="D85A4A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b Agent Config">
  <a:themeElements>
    <a:clrScheme name="Lab">
      <a:dk1>
        <a:srgbClr val="22252A"/>
      </a:dk1>
      <a:lt1>
        <a:srgbClr val="F7F3EA"/>
      </a:lt1>
      <a:dk2>
        <a:srgbClr val="5D646B"/>
      </a:dk2>
      <a:lt2>
        <a:srgbClr val="FFFFFF"/>
      </a:lt2>
      <a:accent1>
        <a:srgbClr val="1F7A7A"/>
      </a:accent1>
      <a:accent2>
        <a:srgbClr val="506B8B"/>
      </a:accent2>
      <a:accent3>
        <a:srgbClr val="C69214"/>
      </a:accent3>
      <a:accent4>
        <a:srgbClr val="D85A4A"/>
      </a:accent4>
      <a:accent5>
        <a:srgbClr val="E8EFEA"/>
      </a:accent5>
      <a:accent6>
        <a:srgbClr val="135C5B"/>
      </a:accent6>
      <a:hlink>
        <a:srgbClr val="506B8B"/>
      </a:hlink>
      <a:folHlink>
        <a:srgbClr val="1F7A7A"/>
      </a:folHlink>
    </a:clrScheme>
    <a:fontScheme name="Arial">
      <a:majorFont>
        <a:latin typeface="Arial"/>
      </a:majorFont>
      <a:minorFont>
        <a:latin typeface="Arial"/>
      </a:minorFont>
    </a:fontScheme>
    <a:fmtScheme name="Clean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</Application>
  <PresentationFormat>On-screen Show (16:9)</PresentationFormat>
  <Slides>30</Slides>
  <Notes>0</Notes>
  <HiddenSlides>7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Agent Config Update</dc:title>
  <dc:creator>Codex</dc:creator>
  <cp:lastModifiedBy>Codex</cp:lastModifiedBy>
  <dcterms:created xsi:type="dcterms:W3CDTF">2026-05-29T10:03:44Z</dcterms:created>
  <dcterms:modified xsi:type="dcterms:W3CDTF">2026-05-29T10:03:44Z</dcterms:modified>
</cp:coreProperties>
</file>